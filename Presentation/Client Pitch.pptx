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810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21792" y="1097280"/>
            <a:ext cx="64008" cy="3566160"/>
          </a:xfrm>
          <a:prstGeom prst="rect">
            <a:avLst/>
          </a:prstGeom>
          <a:solidFill>
            <a:srgbClr val="F5C518"/>
          </a:solidFill>
          <a:ln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-1051560" y="5440680"/>
            <a:ext cx="1920240" cy="1920240"/>
          </a:xfrm>
          <a:prstGeom prst="ellipse">
            <a:avLst/>
          </a:prstGeom>
          <a:solidFill>
            <a:srgbClr val="0F141B"/>
          </a:solidFill>
          <a:ln>
            <a:solidFill>
              <a:srgbClr val="0F14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652760" y="-1051560"/>
            <a:ext cx="2103120" cy="2103120"/>
          </a:xfrm>
          <a:prstGeom prst="ellipse">
            <a:avLst/>
          </a:prstGeom>
          <a:solidFill>
            <a:srgbClr val="10171F"/>
          </a:solidFill>
          <a:ln>
            <a:solidFill>
              <a:srgbClr val="1017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02732"/>
          </a:solidFill>
          <a:ln>
            <a:solidFill>
              <a:srgbClr val="202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5C518"/>
          </a:solidFill>
          <a:ln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822960" y="1645920"/>
            <a:ext cx="1051560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3400" b="1">
                <a:solidFill>
                  <a:srgbClr val="F4F6F9"/>
                </a:solidFill>
                <a:latin typeface="Aptos Display"/>
              </a:rPr>
              <a:t>IMDb Movie Review Sentiment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686762"/>
            <a:ext cx="9875520" cy="164147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1000"/>
              </a:spcAft>
              <a:defRPr sz="1800">
                <a:latin typeface="Aptos"/>
              </a:defRPr>
            </a:pPr>
            <a:r>
              <a:rPr sz="2100" b="0" dirty="0">
                <a:solidFill>
                  <a:srgbClr val="F4F6F9"/>
                </a:solidFill>
                <a:latin typeface="Aptos"/>
              </a:rPr>
              <a:t>Machine Learning Lab – Final Examination
Group </a:t>
            </a:r>
            <a:r>
              <a:rPr lang="en-IN" sz="2100" dirty="0">
                <a:solidFill>
                  <a:srgbClr val="F4F6F9"/>
                </a:solidFill>
                <a:latin typeface="Aptos"/>
              </a:rPr>
              <a:t>7</a:t>
            </a:r>
            <a:r>
              <a:rPr sz="2100" b="0" dirty="0">
                <a:solidFill>
                  <a:srgbClr val="F4F6F9"/>
                </a:solidFill>
                <a:latin typeface="Aptos"/>
              </a:rPr>
              <a:t> | IMDb Sentiment Analysis
Team Members: [</a:t>
            </a:r>
            <a:r>
              <a:rPr lang="en-IN" sz="2100" dirty="0">
                <a:solidFill>
                  <a:srgbClr val="F4F6F9"/>
                </a:solidFill>
                <a:latin typeface="Aptos"/>
              </a:rPr>
              <a:t>J</a:t>
            </a:r>
            <a:r>
              <a:rPr lang="en-IN" sz="2100" b="0" dirty="0">
                <a:solidFill>
                  <a:srgbClr val="F4F6F9"/>
                </a:solidFill>
                <a:latin typeface="Aptos"/>
              </a:rPr>
              <a:t>erome-241BCADA67,Dharshan-241BCADA39,Prathik-241BCADA47,Rakshith-241BCADA63,Diganth-241BCADA51,Chandan-241BCADA48</a:t>
            </a:r>
            <a:r>
              <a:rPr sz="2100" b="0" dirty="0">
                <a:solidFill>
                  <a:srgbClr val="F4F6F9"/>
                </a:solidFill>
                <a:latin typeface="Aptos"/>
              </a:rPr>
              <a:t>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731520" y="1170432"/>
            <a:ext cx="1051560" cy="41148"/>
          </a:xfrm>
          <a:prstGeom prst="rect">
            <a:avLst/>
          </a:prstGeom>
          <a:solidFill>
            <a:srgbClr val="F5C518"/>
          </a:solidFill>
          <a:ln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-1051560" y="5440680"/>
            <a:ext cx="1920240" cy="1920240"/>
          </a:xfrm>
          <a:prstGeom prst="ellipse">
            <a:avLst/>
          </a:prstGeom>
          <a:solidFill>
            <a:srgbClr val="0F141B"/>
          </a:solidFill>
          <a:ln>
            <a:solidFill>
              <a:srgbClr val="0F14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652760" y="-1051560"/>
            <a:ext cx="2103120" cy="2103120"/>
          </a:xfrm>
          <a:prstGeom prst="ellipse">
            <a:avLst/>
          </a:prstGeom>
          <a:solidFill>
            <a:srgbClr val="10171F"/>
          </a:solidFill>
          <a:ln>
            <a:solidFill>
              <a:srgbClr val="1017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02732"/>
          </a:solidFill>
          <a:ln>
            <a:solidFill>
              <a:srgbClr val="202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5C518"/>
          </a:solidFill>
          <a:ln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31520" y="502920"/>
            <a:ext cx="1078992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F4F6F9"/>
                </a:solidFill>
                <a:latin typeface="Aptos Display"/>
              </a:rPr>
              <a:t>2. Problem Statement &amp; 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19088"/>
            <a:ext cx="7315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9EA7B4"/>
                </a:solidFill>
                <a:latin typeface="Aptos"/>
              </a:rPr>
              <a:t>Machine Learning Lab – Final Exam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10058400" cy="40233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F4F6F9"/>
                </a:solidFill>
                <a:latin typeface="Aptos"/>
              </a:rPr>
              <a:t>• Problem: Automatically classify IMDb movie reviews as Positive or Negative from review text.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F4F6F9"/>
                </a:solidFill>
                <a:latin typeface="Aptos"/>
              </a:rPr>
              <a:t>• Importance: Enables large-scale review understanding and supports downstream sentiment analytics.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F4F6F9"/>
                </a:solidFill>
                <a:latin typeface="Aptos"/>
              </a:rPr>
              <a:t>• ML objective: Build a leakage-safe binary text-classification pipeline using TF-IDF features and supervised learning.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F4F6F9"/>
                </a:solidFill>
                <a:latin typeface="Aptos"/>
              </a:rPr>
              <a:t>• Input: Raw movie-review text. Output: sentiment label plus positive-class probability.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F4F6F9"/>
                </a:solidFill>
                <a:latin typeface="Aptos"/>
              </a:rPr>
              <a:t>• Target classes: 0 = Negative, 1 = Positive.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6812280" y="1417320"/>
            <a:ext cx="50292" cy="1051560"/>
          </a:xfrm>
          <a:prstGeom prst="rect">
            <a:avLst/>
          </a:prstGeom>
          <a:solidFill>
            <a:srgbClr val="F5C518"/>
          </a:solidFill>
          <a:ln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840480" y="1417320"/>
            <a:ext cx="50292" cy="1051560"/>
          </a:xfrm>
          <a:prstGeom prst="rect">
            <a:avLst/>
          </a:prstGeom>
          <a:solidFill>
            <a:srgbClr val="F5C518"/>
          </a:solidFill>
          <a:ln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68680" y="1417320"/>
            <a:ext cx="50292" cy="1051560"/>
          </a:xfrm>
          <a:prstGeom prst="rect">
            <a:avLst/>
          </a:prstGeom>
          <a:solidFill>
            <a:srgbClr val="F5C518"/>
          </a:solidFill>
          <a:ln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31520" y="1170432"/>
            <a:ext cx="1051560" cy="41148"/>
          </a:xfrm>
          <a:prstGeom prst="rect">
            <a:avLst/>
          </a:prstGeom>
          <a:solidFill>
            <a:srgbClr val="F5C518"/>
          </a:solidFill>
          <a:ln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-1051560" y="5440680"/>
            <a:ext cx="1920240" cy="1920240"/>
          </a:xfrm>
          <a:prstGeom prst="ellipse">
            <a:avLst/>
          </a:prstGeom>
          <a:solidFill>
            <a:srgbClr val="0F141B"/>
          </a:solidFill>
          <a:ln>
            <a:solidFill>
              <a:srgbClr val="0F14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652760" y="-1051560"/>
            <a:ext cx="2103120" cy="2103120"/>
          </a:xfrm>
          <a:prstGeom prst="ellipse">
            <a:avLst/>
          </a:prstGeom>
          <a:solidFill>
            <a:srgbClr val="10171F"/>
          </a:solidFill>
          <a:ln>
            <a:solidFill>
              <a:srgbClr val="1017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02732"/>
          </a:solidFill>
          <a:ln>
            <a:solidFill>
              <a:srgbClr val="202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5C518"/>
          </a:solidFill>
          <a:ln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31520" y="502920"/>
            <a:ext cx="1078992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F4F6F9"/>
                </a:solidFill>
                <a:latin typeface="Aptos Display"/>
              </a:rPr>
              <a:t>3. Dataset &amp; Data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19088"/>
            <a:ext cx="7315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9EA7B4"/>
                </a:solidFill>
                <a:latin typeface="Aptos"/>
              </a:rPr>
              <a:t>Machine Learning Lab – Final Exam Project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417320"/>
            <a:ext cx="2743200" cy="1051560"/>
          </a:xfrm>
          <a:prstGeom prst="rect">
            <a:avLst/>
          </a:prstGeom>
          <a:solidFill>
            <a:srgbClr val="1B212B"/>
          </a:solidFill>
          <a:ln w="13970">
            <a:solidFill>
              <a:srgbClr val="202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ctr"/>
          <a:lstStyle/>
          <a:p>
            <a:pPr algn="ctr"/>
            <a:r>
              <a:rPr sz="2000" b="1">
                <a:solidFill>
                  <a:srgbClr val="F5C518"/>
                </a:solidFill>
                <a:latin typeface="Aptos"/>
              </a:rPr>
              <a:t>49,581
Raw reviews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0" y="1417320"/>
            <a:ext cx="2743200" cy="1051560"/>
          </a:xfrm>
          <a:prstGeom prst="rect">
            <a:avLst/>
          </a:prstGeom>
          <a:solidFill>
            <a:srgbClr val="1B212B"/>
          </a:solidFill>
          <a:ln w="13970">
            <a:solidFill>
              <a:srgbClr val="202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ctr"/>
          <a:lstStyle/>
          <a:p>
            <a:pPr algn="ctr"/>
            <a:r>
              <a:rPr sz="2000" b="1">
                <a:solidFill>
                  <a:srgbClr val="5D99FF"/>
                </a:solidFill>
                <a:latin typeface="Aptos"/>
              </a:rPr>
              <a:t>3 columns
review • sentiment • review_tokens_cleaned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812280" y="1417320"/>
            <a:ext cx="2743200" cy="1051560"/>
          </a:xfrm>
          <a:prstGeom prst="rect">
            <a:avLst/>
          </a:prstGeom>
          <a:solidFill>
            <a:srgbClr val="1B212B"/>
          </a:solidFill>
          <a:ln w="13970">
            <a:solidFill>
              <a:srgbClr val="202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ctr"/>
          <a:lstStyle/>
          <a:p>
            <a:pPr algn="ctr"/>
            <a:r>
              <a:rPr sz="2000" b="1">
                <a:solidFill>
                  <a:srgbClr val="3AD3A6"/>
                </a:solidFill>
                <a:latin typeface="Aptos"/>
              </a:rPr>
              <a:t>~50/50
class balance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9784080" cy="24688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F4F6F9"/>
                </a:solidFill>
                <a:latin typeface="Aptos"/>
              </a:rPr>
              <a:t>• After removing 1 empty review and deduplicating cleaned text: 49,580 usable reviews.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F4F6F9"/>
                </a:solidFill>
                <a:latin typeface="Aptos"/>
              </a:rPr>
              <a:t>• Class counts after cleaning: 24,697 negative and 24,883 positive.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F4F6F9"/>
                </a:solidFill>
                <a:latin typeface="Aptos"/>
              </a:rPr>
              <a:t>• Main model input is review text; the serialized review_tokens_cleaned field is not used as model input.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F4F6F9"/>
                </a:solidFill>
                <a:latin typeface="Aptos"/>
              </a:rPr>
              <a:t>• Limitation: independent aspect labels for taste, food quality, service, packaging or value are not present.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/>
          <p:cNvSpPr/>
          <p:nvPr/>
        </p:nvSpPr>
        <p:spPr>
          <a:xfrm>
            <a:off x="3813048" y="1252728"/>
            <a:ext cx="7278624" cy="3649491"/>
          </a:xfrm>
          <a:prstGeom prst="roundRect">
            <a:avLst/>
          </a:prstGeom>
          <a:solidFill>
            <a:srgbClr val="1B212B"/>
          </a:solidFill>
          <a:ln>
            <a:solidFill>
              <a:srgbClr val="202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023360" y="5074920"/>
            <a:ext cx="50292" cy="594360"/>
          </a:xfrm>
          <a:prstGeom prst="rect">
            <a:avLst/>
          </a:prstGeom>
          <a:solidFill>
            <a:srgbClr val="F5C518"/>
          </a:solidFill>
          <a:ln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" y="1234440"/>
            <a:ext cx="50292" cy="4206240"/>
          </a:xfrm>
          <a:prstGeom prst="rect">
            <a:avLst/>
          </a:prstGeom>
          <a:solidFill>
            <a:srgbClr val="F5C518"/>
          </a:solidFill>
          <a:ln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31520" y="1170432"/>
            <a:ext cx="1051560" cy="41148"/>
          </a:xfrm>
          <a:prstGeom prst="rect">
            <a:avLst/>
          </a:prstGeom>
          <a:solidFill>
            <a:srgbClr val="F5C518"/>
          </a:solidFill>
          <a:ln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-1051560" y="5440680"/>
            <a:ext cx="1920240" cy="1920240"/>
          </a:xfrm>
          <a:prstGeom prst="ellipse">
            <a:avLst/>
          </a:prstGeom>
          <a:solidFill>
            <a:srgbClr val="0F141B"/>
          </a:solidFill>
          <a:ln>
            <a:solidFill>
              <a:srgbClr val="0F14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652760" y="-1051560"/>
            <a:ext cx="2103120" cy="2103120"/>
          </a:xfrm>
          <a:prstGeom prst="ellipse">
            <a:avLst/>
          </a:prstGeom>
          <a:solidFill>
            <a:srgbClr val="10171F"/>
          </a:solidFill>
          <a:ln>
            <a:solidFill>
              <a:srgbClr val="1017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02732"/>
          </a:solidFill>
          <a:ln>
            <a:solidFill>
              <a:srgbClr val="202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5C518"/>
          </a:solidFill>
          <a:ln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31520" y="502920"/>
            <a:ext cx="1078992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F4F6F9"/>
                </a:solidFill>
                <a:latin typeface="Aptos Display"/>
              </a:rPr>
              <a:t>4. Data Preparation &amp;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19088"/>
            <a:ext cx="7315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9EA7B4"/>
                </a:solidFill>
                <a:latin typeface="Aptos"/>
              </a:rPr>
              <a:t>Machine Learning Lab – Final Exam Project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34440"/>
            <a:ext cx="2971800" cy="4206240"/>
          </a:xfrm>
          <a:prstGeom prst="rect">
            <a:avLst/>
          </a:prstGeom>
          <a:solidFill>
            <a:srgbClr val="141921"/>
          </a:solidFill>
          <a:ln w="13970">
            <a:solidFill>
              <a:srgbClr val="202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ctr"/>
          <a:lstStyle/>
          <a:p>
            <a:pPr algn="l"/>
            <a:r>
              <a:rPr sz="1200" b="1">
                <a:solidFill>
                  <a:srgbClr val="F5C518"/>
                </a:solidFill>
                <a:latin typeface="Aptos"/>
              </a:rPr>
              <a:t>DATA PREPARATION
• Schema validation
• Missing-value audit
• Remove empty reviews
• Deduplicate cleaned reviews
• Preserve negation (not/no/never)
• Stratified 80/10/10 split
• TF-IDF fitted inside Pipeline/CV</a:t>
            </a:r>
          </a:p>
        </p:txBody>
      </p:sp>
      <p:pic>
        <p:nvPicPr>
          <p:cNvPr id="6" name="Picture 5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0" y="1325880"/>
            <a:ext cx="7132320" cy="3503187"/>
          </a:xfrm>
          <a:prstGeom prst="rect">
            <a:avLst/>
          </a:prstGeom>
          <a:ln w="19050">
            <a:solidFill>
              <a:srgbClr val="F4F6F9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4023360" y="5074920"/>
            <a:ext cx="6766560" cy="594360"/>
          </a:xfrm>
          <a:prstGeom prst="rect">
            <a:avLst/>
          </a:prstGeom>
          <a:solidFill>
            <a:srgbClr val="141921"/>
          </a:solidFill>
          <a:ln w="13970">
            <a:solidFill>
              <a:srgbClr val="202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ctr"/>
          <a:lstStyle/>
          <a:p>
            <a:pPr algn="l"/>
            <a:r>
              <a:rPr sz="1200" b="1">
                <a:solidFill>
                  <a:srgbClr val="F5C518"/>
                </a:solidFill>
                <a:latin typeface="Aptos"/>
              </a:rPr>
              <a:t>EDA finding: the target is nearly perfectly balanced, reducing class-imbalance concerns.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5989320" y="4251960"/>
            <a:ext cx="50292" cy="1143000"/>
          </a:xfrm>
          <a:prstGeom prst="rect">
            <a:avLst/>
          </a:prstGeom>
          <a:solidFill>
            <a:srgbClr val="3AD3A6"/>
          </a:solidFill>
          <a:ln>
            <a:solidFill>
              <a:srgbClr val="3AD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989320" y="2880360"/>
            <a:ext cx="50292" cy="1143000"/>
          </a:xfrm>
          <a:prstGeom prst="rect">
            <a:avLst/>
          </a:prstGeom>
          <a:solidFill>
            <a:srgbClr val="F5C518"/>
          </a:solidFill>
          <a:ln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989320" y="1417320"/>
            <a:ext cx="50292" cy="1234440"/>
          </a:xfrm>
          <a:prstGeom prst="rect">
            <a:avLst/>
          </a:prstGeom>
          <a:solidFill>
            <a:srgbClr val="F5C518"/>
          </a:solidFill>
          <a:ln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31520" y="1170432"/>
            <a:ext cx="1051560" cy="41148"/>
          </a:xfrm>
          <a:prstGeom prst="rect">
            <a:avLst/>
          </a:prstGeom>
          <a:solidFill>
            <a:srgbClr val="F5C518"/>
          </a:solidFill>
          <a:ln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-1051560" y="5440680"/>
            <a:ext cx="1920240" cy="1920240"/>
          </a:xfrm>
          <a:prstGeom prst="ellipse">
            <a:avLst/>
          </a:prstGeom>
          <a:solidFill>
            <a:srgbClr val="0F141B"/>
          </a:solidFill>
          <a:ln>
            <a:solidFill>
              <a:srgbClr val="0F14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652760" y="-1051560"/>
            <a:ext cx="2103120" cy="2103120"/>
          </a:xfrm>
          <a:prstGeom prst="ellipse">
            <a:avLst/>
          </a:prstGeom>
          <a:solidFill>
            <a:srgbClr val="10171F"/>
          </a:solidFill>
          <a:ln>
            <a:solidFill>
              <a:srgbClr val="1017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02732"/>
          </a:solidFill>
          <a:ln>
            <a:solidFill>
              <a:srgbClr val="202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5C518"/>
          </a:solidFill>
          <a:ln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31520" y="502920"/>
            <a:ext cx="1078992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F4F6F9"/>
                </a:solidFill>
                <a:latin typeface="Aptos Display"/>
              </a:rPr>
              <a:t>5. Machine Learning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19088"/>
            <a:ext cx="7315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9EA7B4"/>
                </a:solidFill>
                <a:latin typeface="Aptos"/>
              </a:rPr>
              <a:t>Machine Learning Lab – Final Exam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4892040" cy="43891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F4F6F9"/>
                </a:solidFill>
                <a:latin typeface="Aptos"/>
              </a:rPr>
              <a:t>• Candidate models: Logistic Regression, Linear SVM, Multinomial Naive Bayes.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F4F6F9"/>
                </a:solidFill>
                <a:latin typeface="Aptos"/>
              </a:rPr>
              <a:t>• TF-IDF: unigrams + bigrams, min_df=2, max_features=20,000, sublinear TF.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F4F6F9"/>
                </a:solidFill>
                <a:latin typeface="Aptos"/>
              </a:rPr>
              <a:t>• 5-fold Stratified CV is performed on training data only.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F4F6F9"/>
                </a:solidFill>
                <a:latin typeface="Aptos"/>
              </a:rPr>
              <a:t>• Logistic Regression is tuned with 16 parameter combinations using CV Macro F1.</a:t>
            </a:r>
          </a:p>
          <a:p>
            <a:pPr>
              <a:spcAft>
                <a:spcPts val="800"/>
              </a:spcAft>
              <a:defRPr sz="17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F4F6F9"/>
                </a:solidFill>
                <a:latin typeface="Aptos"/>
              </a:rPr>
              <a:t>• Best configuration: C=3.0, max_features=20,000, ngram_range=(1,2).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89320" y="1417320"/>
            <a:ext cx="4206240" cy="1234440"/>
          </a:xfrm>
          <a:prstGeom prst="rect">
            <a:avLst/>
          </a:prstGeom>
          <a:solidFill>
            <a:srgbClr val="141921"/>
          </a:solidFill>
          <a:ln w="13970">
            <a:solidFill>
              <a:srgbClr val="202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ctr"/>
          <a:lstStyle/>
          <a:p>
            <a:pPr algn="ctr"/>
            <a:r>
              <a:rPr sz="1200" b="1">
                <a:solidFill>
                  <a:srgbClr val="F5C518"/>
                </a:solidFill>
                <a:latin typeface="Aptos"/>
              </a:rPr>
              <a:t>FINAL PIPELINE
Clean text → TF-IDF → Logistic Regression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2880360"/>
            <a:ext cx="4206240" cy="1143000"/>
          </a:xfrm>
          <a:prstGeom prst="rect">
            <a:avLst/>
          </a:prstGeom>
          <a:solidFill>
            <a:srgbClr val="141921"/>
          </a:solidFill>
          <a:ln w="13970">
            <a:solidFill>
              <a:srgbClr val="202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ctr"/>
          <a:lstStyle/>
          <a:p>
            <a:pPr algn="ctr"/>
            <a:r>
              <a:rPr sz="1200" b="1">
                <a:solidFill>
                  <a:srgbClr val="F5C518"/>
                </a:solidFill>
                <a:latin typeface="Aptos"/>
              </a:rPr>
              <a:t>Split
80% train • 10% validation • 10% test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5989320" y="4251960"/>
            <a:ext cx="4206240" cy="1143000"/>
          </a:xfrm>
          <a:prstGeom prst="rect">
            <a:avLst/>
          </a:prstGeom>
          <a:solidFill>
            <a:srgbClr val="141921"/>
          </a:solidFill>
          <a:ln w="13970">
            <a:solidFill>
              <a:srgbClr val="202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ctr"/>
          <a:lstStyle/>
          <a:p>
            <a:pPr algn="ctr"/>
            <a:r>
              <a:rPr sz="1200" b="1">
                <a:solidFill>
                  <a:srgbClr val="3AD3A6"/>
                </a:solidFill>
                <a:latin typeface="Aptos"/>
              </a:rPr>
              <a:t>Decision rule
Positive if P(positive) ≥ selected threshold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ounded Rectangle 19"/>
          <p:cNvSpPr/>
          <p:nvPr/>
        </p:nvSpPr>
        <p:spPr>
          <a:xfrm>
            <a:off x="658368" y="1252728"/>
            <a:ext cx="4261104" cy="4015298"/>
          </a:xfrm>
          <a:prstGeom prst="roundRect">
            <a:avLst/>
          </a:prstGeom>
          <a:solidFill>
            <a:srgbClr val="1B212B"/>
          </a:solidFill>
          <a:ln>
            <a:solidFill>
              <a:srgbClr val="202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74920" y="5166360"/>
            <a:ext cx="50292" cy="566928"/>
          </a:xfrm>
          <a:prstGeom prst="rect">
            <a:avLst/>
          </a:prstGeom>
          <a:solidFill>
            <a:srgbClr val="F5C518"/>
          </a:solidFill>
          <a:ln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418320" y="1325880"/>
            <a:ext cx="50292" cy="1051560"/>
          </a:xfrm>
          <a:prstGeom prst="rect">
            <a:avLst/>
          </a:prstGeom>
          <a:solidFill>
            <a:srgbClr val="5D99FF"/>
          </a:solidFill>
          <a:ln>
            <a:solidFill>
              <a:srgbClr val="5D9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223760" y="1325880"/>
            <a:ext cx="50292" cy="1051560"/>
          </a:xfrm>
          <a:prstGeom prst="rect">
            <a:avLst/>
          </a:prstGeom>
          <a:solidFill>
            <a:srgbClr val="F5C518"/>
          </a:solidFill>
          <a:ln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29200" y="1325880"/>
            <a:ext cx="50292" cy="1051560"/>
          </a:xfrm>
          <a:prstGeom prst="rect">
            <a:avLst/>
          </a:prstGeom>
          <a:solidFill>
            <a:srgbClr val="F5C518"/>
          </a:solidFill>
          <a:ln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31520" y="1170432"/>
            <a:ext cx="1051560" cy="41148"/>
          </a:xfrm>
          <a:prstGeom prst="rect">
            <a:avLst/>
          </a:prstGeom>
          <a:solidFill>
            <a:srgbClr val="F5C518"/>
          </a:solidFill>
          <a:ln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-1051560" y="5440680"/>
            <a:ext cx="1920240" cy="1920240"/>
          </a:xfrm>
          <a:prstGeom prst="ellipse">
            <a:avLst/>
          </a:prstGeom>
          <a:solidFill>
            <a:srgbClr val="0F141B"/>
          </a:solidFill>
          <a:ln>
            <a:solidFill>
              <a:srgbClr val="0F14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0652760" y="-1051560"/>
            <a:ext cx="2103120" cy="2103120"/>
          </a:xfrm>
          <a:prstGeom prst="ellipse">
            <a:avLst/>
          </a:prstGeom>
          <a:solidFill>
            <a:srgbClr val="10171F"/>
          </a:solidFill>
          <a:ln>
            <a:solidFill>
              <a:srgbClr val="1017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02732"/>
          </a:solidFill>
          <a:ln>
            <a:solidFill>
              <a:srgbClr val="202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5C518"/>
          </a:solidFill>
          <a:ln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31520" y="502920"/>
            <a:ext cx="1078992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F4F6F9"/>
                </a:solidFill>
                <a:latin typeface="Aptos Display"/>
              </a:rPr>
              <a:t>6. Model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19088"/>
            <a:ext cx="7315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9EA7B4"/>
                </a:solidFill>
                <a:latin typeface="Aptos"/>
              </a:rPr>
              <a:t>Machine Learning Lab – Final Exam Project</a:t>
            </a:r>
          </a:p>
        </p:txBody>
      </p:sp>
      <p:pic>
        <p:nvPicPr>
          <p:cNvPr id="5" name="Picture 4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4114800" cy="3868994"/>
          </a:xfrm>
          <a:prstGeom prst="rect">
            <a:avLst/>
          </a:prstGeom>
          <a:ln w="19050">
            <a:solidFill>
              <a:srgbClr val="F4F6F9"/>
            </a:solidFill>
          </a:ln>
        </p:spPr>
      </p:pic>
      <p:sp>
        <p:nvSpPr>
          <p:cNvPr id="6" name="Rectangle 5"/>
          <p:cNvSpPr/>
          <p:nvPr/>
        </p:nvSpPr>
        <p:spPr>
          <a:xfrm>
            <a:off x="5029200" y="1325880"/>
            <a:ext cx="1965960" cy="1051560"/>
          </a:xfrm>
          <a:prstGeom prst="rect">
            <a:avLst/>
          </a:prstGeom>
          <a:solidFill>
            <a:srgbClr val="141921"/>
          </a:solidFill>
          <a:ln w="13970">
            <a:solidFill>
              <a:srgbClr val="202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ctr"/>
          <a:lstStyle/>
          <a:p>
            <a:pPr algn="ctr"/>
            <a:r>
              <a:rPr sz="2000" b="1">
                <a:solidFill>
                  <a:srgbClr val="F5C518"/>
                </a:solidFill>
                <a:latin typeface="Aptos"/>
              </a:rPr>
              <a:t>Accuracy
91.09%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0" y="1325880"/>
            <a:ext cx="1965960" cy="1051560"/>
          </a:xfrm>
          <a:prstGeom prst="rect">
            <a:avLst/>
          </a:prstGeom>
          <a:solidFill>
            <a:srgbClr val="141921"/>
          </a:solidFill>
          <a:ln w="13970">
            <a:solidFill>
              <a:srgbClr val="202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ctr"/>
          <a:lstStyle/>
          <a:p>
            <a:pPr algn="ctr"/>
            <a:r>
              <a:rPr sz="2000" b="1">
                <a:solidFill>
                  <a:srgbClr val="3AD3A6"/>
                </a:solidFill>
                <a:latin typeface="Aptos"/>
              </a:rPr>
              <a:t>Macro F1
91.09%</a:t>
            </a:r>
          </a:p>
        </p:txBody>
      </p:sp>
      <p:sp>
        <p:nvSpPr>
          <p:cNvPr id="8" name="Rectangle 7"/>
          <p:cNvSpPr/>
          <p:nvPr/>
        </p:nvSpPr>
        <p:spPr>
          <a:xfrm>
            <a:off x="9418320" y="1325880"/>
            <a:ext cx="1965960" cy="1051560"/>
          </a:xfrm>
          <a:prstGeom prst="rect">
            <a:avLst/>
          </a:prstGeom>
          <a:solidFill>
            <a:srgbClr val="141921"/>
          </a:solidFill>
          <a:ln w="13970">
            <a:solidFill>
              <a:srgbClr val="202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ctr"/>
          <a:lstStyle/>
          <a:p>
            <a:pPr algn="ctr"/>
            <a:r>
              <a:rPr sz="2000" b="1">
                <a:solidFill>
                  <a:srgbClr val="5D99FF"/>
                </a:solidFill>
                <a:latin typeface="Aptos"/>
              </a:rPr>
              <a:t>ROC-AUC
96.89%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697480"/>
            <a:ext cx="6126480" cy="2651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F4F6F9"/>
                </a:solidFill>
                <a:latin typeface="Aptos"/>
              </a:rPr>
              <a:t>• Test precision/recall are balanced at approximately 91.1% macro.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F4F6F9"/>
                </a:solidFill>
                <a:latin typeface="Aptos"/>
              </a:rPr>
              <a:t>• Confusion matrix: TN=2,259; FP=211; FN=231; TP=2,257.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F4F6F9"/>
                </a:solidFill>
                <a:latin typeface="Aptos"/>
              </a:rPr>
              <a:t>• Macro F1 is appropriate for balanced binary classification and summarizes precision/recall across both classes.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F4F6F9"/>
                </a:solidFill>
                <a:latin typeface="Aptos"/>
              </a:rPr>
              <a:t>• The model separates classes well by ROC-AUC, while errors remain in ambiguous language and mixed sentiment.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74920" y="5166360"/>
            <a:ext cx="6035040" cy="566928"/>
          </a:xfrm>
          <a:prstGeom prst="rect">
            <a:avLst/>
          </a:prstGeom>
          <a:solidFill>
            <a:srgbClr val="141921"/>
          </a:solidFill>
          <a:ln w="13970">
            <a:solidFill>
              <a:srgbClr val="202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ctr"/>
          <a:lstStyle/>
          <a:p>
            <a:pPr algn="l"/>
            <a:r>
              <a:rPr sz="1200" b="1">
                <a:solidFill>
                  <a:srgbClr val="F5C518"/>
                </a:solidFill>
                <a:latin typeface="Aptos"/>
              </a:rPr>
              <a:t>Notebook test threshold: 0.55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594360" y="4983480"/>
            <a:ext cx="50292" cy="640080"/>
          </a:xfrm>
          <a:prstGeom prst="rect">
            <a:avLst/>
          </a:prstGeom>
          <a:solidFill>
            <a:srgbClr val="5D99FF"/>
          </a:solidFill>
          <a:ln>
            <a:solidFill>
              <a:srgbClr val="5D9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989320" y="2423160"/>
            <a:ext cx="50292" cy="2331720"/>
          </a:xfrm>
          <a:prstGeom prst="rect">
            <a:avLst/>
          </a:prstGeom>
          <a:solidFill>
            <a:srgbClr val="F15B5B"/>
          </a:solidFill>
          <a:ln>
            <a:solidFill>
              <a:srgbClr val="F1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94360" y="2423160"/>
            <a:ext cx="50292" cy="2331720"/>
          </a:xfrm>
          <a:prstGeom prst="rect">
            <a:avLst/>
          </a:prstGeom>
          <a:solidFill>
            <a:srgbClr val="A577FF"/>
          </a:solidFill>
          <a:ln>
            <a:solidFill>
              <a:srgbClr val="A5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006840" y="1143000"/>
            <a:ext cx="50292" cy="960120"/>
          </a:xfrm>
          <a:prstGeom prst="rect">
            <a:avLst/>
          </a:prstGeom>
          <a:solidFill>
            <a:srgbClr val="1B212B"/>
          </a:solidFill>
          <a:ln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903720" y="1143000"/>
            <a:ext cx="50292" cy="960120"/>
          </a:xfrm>
          <a:prstGeom prst="rect">
            <a:avLst/>
          </a:prstGeom>
          <a:solidFill>
            <a:srgbClr val="1B212B"/>
          </a:solidFill>
          <a:ln>
            <a:solidFill>
              <a:srgbClr val="5D9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800600" y="1143000"/>
            <a:ext cx="50292" cy="960120"/>
          </a:xfrm>
          <a:prstGeom prst="rect">
            <a:avLst/>
          </a:prstGeom>
          <a:solidFill>
            <a:srgbClr val="1B212B"/>
          </a:solidFill>
          <a:ln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697480" y="1143000"/>
            <a:ext cx="50292" cy="960120"/>
          </a:xfrm>
          <a:prstGeom prst="rect">
            <a:avLst/>
          </a:prstGeom>
          <a:solidFill>
            <a:srgbClr val="1B212B"/>
          </a:solidFill>
          <a:ln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94360" y="1143000"/>
            <a:ext cx="50292" cy="960120"/>
          </a:xfrm>
          <a:prstGeom prst="rect">
            <a:avLst/>
          </a:prstGeom>
          <a:solidFill>
            <a:srgbClr val="1B212B"/>
          </a:solidFill>
          <a:ln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31520" y="1170432"/>
            <a:ext cx="1051560" cy="41148"/>
          </a:xfrm>
          <a:prstGeom prst="rect">
            <a:avLst/>
          </a:prstGeom>
          <a:solidFill>
            <a:srgbClr val="1B212B"/>
          </a:solidFill>
          <a:ln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-1051560" y="5440680"/>
            <a:ext cx="1920240" cy="1920240"/>
          </a:xfrm>
          <a:prstGeom prst="ellipse">
            <a:avLst/>
          </a:prstGeom>
          <a:solidFill>
            <a:srgbClr val="0F141B"/>
          </a:solidFill>
          <a:ln>
            <a:solidFill>
              <a:srgbClr val="0F14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652760" y="-1051560"/>
            <a:ext cx="2103120" cy="2103120"/>
          </a:xfrm>
          <a:prstGeom prst="ellipse">
            <a:avLst/>
          </a:prstGeom>
          <a:solidFill>
            <a:srgbClr val="1B212B"/>
          </a:solidFill>
          <a:ln>
            <a:solidFill>
              <a:srgbClr val="1017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02732"/>
          </a:solidFill>
          <a:ln>
            <a:solidFill>
              <a:srgbClr val="202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B212B"/>
          </a:solidFill>
          <a:ln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31520" y="502920"/>
            <a:ext cx="1078992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F4F6F9"/>
                </a:solidFill>
                <a:latin typeface="Aptos Display"/>
              </a:rPr>
              <a:t>7. Results &amp; Dashboard / 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19088"/>
            <a:ext cx="7315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9EA7B4"/>
                </a:solidFill>
                <a:latin typeface="Aptos"/>
              </a:rPr>
              <a:t>Machine Learning Lab – Final Exam Project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43000"/>
            <a:ext cx="1965960" cy="960120"/>
          </a:xfrm>
          <a:prstGeom prst="rect">
            <a:avLst/>
          </a:prstGeom>
          <a:solidFill>
            <a:srgbClr val="1B212B"/>
          </a:solidFill>
          <a:ln w="13970">
            <a:solidFill>
              <a:srgbClr val="202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ctr"/>
          <a:lstStyle/>
          <a:p>
            <a:pPr algn="ctr"/>
            <a:r>
              <a:rPr sz="1200" b="1">
                <a:solidFill>
                  <a:srgbClr val="F5C518"/>
                </a:solidFill>
                <a:latin typeface="Aptos"/>
              </a:rPr>
              <a:t>Accuracy
91.09%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7480" y="1143000"/>
            <a:ext cx="1965960" cy="960120"/>
          </a:xfrm>
          <a:prstGeom prst="rect">
            <a:avLst/>
          </a:prstGeom>
          <a:solidFill>
            <a:srgbClr val="1B212B"/>
          </a:solidFill>
          <a:ln w="13970">
            <a:solidFill>
              <a:srgbClr val="202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ctr"/>
          <a:lstStyle/>
          <a:p>
            <a:pPr algn="ctr"/>
            <a:r>
              <a:rPr sz="1200" b="1">
                <a:solidFill>
                  <a:srgbClr val="F5C518"/>
                </a:solidFill>
                <a:latin typeface="Aptos"/>
              </a:rPr>
              <a:t>Reviews
49,581</a:t>
            </a:r>
          </a:p>
        </p:txBody>
      </p:sp>
      <p:sp>
        <p:nvSpPr>
          <p:cNvPr id="7" name="Rectangle 6"/>
          <p:cNvSpPr/>
          <p:nvPr/>
        </p:nvSpPr>
        <p:spPr>
          <a:xfrm>
            <a:off x="4800600" y="1143000"/>
            <a:ext cx="1965960" cy="960120"/>
          </a:xfrm>
          <a:prstGeom prst="rect">
            <a:avLst/>
          </a:prstGeom>
          <a:solidFill>
            <a:srgbClr val="1B212B"/>
          </a:solidFill>
          <a:ln w="13970">
            <a:solidFill>
              <a:srgbClr val="202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ctr"/>
          <a:lstStyle/>
          <a:p>
            <a:pPr algn="ctr"/>
            <a:r>
              <a:rPr sz="1200" b="1">
                <a:solidFill>
                  <a:srgbClr val="F5C518"/>
                </a:solidFill>
                <a:latin typeface="Aptos"/>
              </a:rPr>
              <a:t>Macro F1
91.09%</a:t>
            </a:r>
          </a:p>
        </p:txBody>
      </p:sp>
      <p:sp>
        <p:nvSpPr>
          <p:cNvPr id="8" name="Rectangle 7"/>
          <p:cNvSpPr/>
          <p:nvPr/>
        </p:nvSpPr>
        <p:spPr>
          <a:xfrm>
            <a:off x="6903720" y="1143000"/>
            <a:ext cx="1965960" cy="960120"/>
          </a:xfrm>
          <a:prstGeom prst="rect">
            <a:avLst/>
          </a:prstGeom>
          <a:solidFill>
            <a:srgbClr val="1B212B"/>
          </a:solidFill>
          <a:ln w="13970">
            <a:solidFill>
              <a:srgbClr val="202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ctr"/>
          <a:lstStyle/>
          <a:p>
            <a:pPr algn="ctr"/>
            <a:r>
              <a:rPr sz="1200" b="1">
                <a:solidFill>
                  <a:srgbClr val="5D99FF"/>
                </a:solidFill>
                <a:latin typeface="Aptos"/>
              </a:rPr>
              <a:t>ROC-AUC
96.89%</a:t>
            </a:r>
          </a:p>
        </p:txBody>
      </p:sp>
      <p:sp>
        <p:nvSpPr>
          <p:cNvPr id="9" name="Rectangle 8"/>
          <p:cNvSpPr/>
          <p:nvPr/>
        </p:nvSpPr>
        <p:spPr>
          <a:xfrm>
            <a:off x="9006840" y="1143000"/>
            <a:ext cx="1965960" cy="960120"/>
          </a:xfrm>
          <a:prstGeom prst="rect">
            <a:avLst/>
          </a:prstGeom>
          <a:solidFill>
            <a:srgbClr val="1B212B"/>
          </a:solidFill>
          <a:ln w="13970">
            <a:solidFill>
              <a:srgbClr val="202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ctr"/>
          <a:lstStyle/>
          <a:p>
            <a:pPr algn="ctr"/>
            <a:r>
              <a:rPr sz="1200" b="1">
                <a:solidFill>
                  <a:srgbClr val="F5C518"/>
                </a:solidFill>
                <a:latin typeface="Aptos"/>
              </a:rPr>
              <a:t>Threshold
0.55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2423160"/>
            <a:ext cx="5166360" cy="2331720"/>
          </a:xfrm>
          <a:prstGeom prst="rect">
            <a:avLst/>
          </a:prstGeom>
          <a:solidFill>
            <a:srgbClr val="141921"/>
          </a:solidFill>
          <a:ln w="13970">
            <a:solidFill>
              <a:srgbClr val="202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ctr"/>
          <a:lstStyle/>
          <a:p>
            <a:pPr algn="l"/>
            <a:r>
              <a:rPr sz="1200" b="1">
                <a:solidFill>
                  <a:srgbClr val="A577FF"/>
                </a:solidFill>
                <a:latin typeface="Aptos"/>
              </a:rPr>
              <a:t>POWER BI MODEL OVERVIEW
• KPI cards for accuracy, dataset size, macro F1, ROC-AUC and threshold
• Model comparison visual
• Confusion-matrix visual
• Model summary with decision threshold and ranking metrics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2423160"/>
            <a:ext cx="4983480" cy="2331720"/>
          </a:xfrm>
          <a:prstGeom prst="rect">
            <a:avLst/>
          </a:prstGeom>
          <a:solidFill>
            <a:srgbClr val="141921"/>
          </a:solidFill>
          <a:ln w="13970">
            <a:solidFill>
              <a:srgbClr val="202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ctr"/>
          <a:lstStyle/>
          <a:p>
            <a:pPr algn="l"/>
            <a:r>
              <a:rPr sz="1200" b="1">
                <a:solidFill>
                  <a:srgbClr val="F15B5B"/>
                </a:solidFill>
                <a:latin typeface="Aptos"/>
              </a:rPr>
              <a:t>POWER BI PREDICTION / ERROR PAGES
• Prediction Analysis page: actual vs predicted counts + filters
• Error Analysis page: total errors, error rate, confidence and error type
• Slicers for predicted label, correctness, error type, confidence band and actual label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4983480"/>
            <a:ext cx="10378440" cy="640080"/>
          </a:xfrm>
          <a:prstGeom prst="rect">
            <a:avLst/>
          </a:prstGeom>
          <a:solidFill>
            <a:srgbClr val="141921"/>
          </a:solidFill>
          <a:ln w="13970">
            <a:solidFill>
              <a:srgbClr val="202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ctr"/>
          <a:lstStyle/>
          <a:p>
            <a:pPr algn="l"/>
            <a:r>
              <a:rPr sz="1200" b="1">
                <a:solidFill>
                  <a:srgbClr val="5D99FF"/>
                </a:solidFill>
                <a:latin typeface="Aptos"/>
              </a:rPr>
              <a:t>Consistency check: PBIX overview currently displays threshold 0.56 and ROC-AUC 97.06%, while the executed notebook reports 0.55 and 96.89%. Reconcile before final submission.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/>
          <p:cNvSpPr/>
          <p:nvPr/>
        </p:nvSpPr>
        <p:spPr>
          <a:xfrm>
            <a:off x="1828800" y="5074920"/>
            <a:ext cx="50292" cy="640080"/>
          </a:xfrm>
          <a:prstGeom prst="rect">
            <a:avLst/>
          </a:prstGeom>
          <a:solidFill>
            <a:srgbClr val="F5C518"/>
          </a:solidFill>
          <a:ln w="1651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080760" y="3703320"/>
            <a:ext cx="50292" cy="960120"/>
          </a:xfrm>
          <a:prstGeom prst="rect">
            <a:avLst/>
          </a:prstGeom>
          <a:solidFill>
            <a:srgbClr val="F5C518"/>
          </a:solidFill>
          <a:ln w="1651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080760" y="2468880"/>
            <a:ext cx="50292" cy="960120"/>
          </a:xfrm>
          <a:prstGeom prst="rect">
            <a:avLst/>
          </a:prstGeom>
          <a:solidFill>
            <a:srgbClr val="3AD3A6"/>
          </a:solidFill>
          <a:ln w="1651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080760" y="1234440"/>
            <a:ext cx="50292" cy="960120"/>
          </a:xfrm>
          <a:prstGeom prst="rect">
            <a:avLst/>
          </a:prstGeom>
          <a:solidFill>
            <a:srgbClr val="3AD3A6"/>
          </a:solidFill>
          <a:ln w="1651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3703320"/>
            <a:ext cx="50292" cy="960120"/>
          </a:xfrm>
          <a:prstGeom prst="rect">
            <a:avLst/>
          </a:prstGeom>
          <a:solidFill>
            <a:srgbClr val="A577FF"/>
          </a:solidFill>
          <a:ln w="1651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0080" y="2468880"/>
            <a:ext cx="50292" cy="960120"/>
          </a:xfrm>
          <a:prstGeom prst="rect">
            <a:avLst/>
          </a:prstGeom>
          <a:solidFill>
            <a:srgbClr val="5D99FF"/>
          </a:solidFill>
          <a:ln w="1651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0080" y="1234440"/>
            <a:ext cx="50292" cy="960120"/>
          </a:xfrm>
          <a:prstGeom prst="rect">
            <a:avLst/>
          </a:prstGeom>
          <a:solidFill>
            <a:srgbClr val="F5C518"/>
          </a:solidFill>
          <a:ln w="1651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31520" y="1170432"/>
            <a:ext cx="1051560" cy="41148"/>
          </a:xfrm>
          <a:prstGeom prst="rect">
            <a:avLst/>
          </a:prstGeom>
          <a:solidFill>
            <a:srgbClr val="F5C518"/>
          </a:solidFill>
          <a:ln w="1651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-1051560" y="5440680"/>
            <a:ext cx="1920240" cy="1920240"/>
          </a:xfrm>
          <a:prstGeom prst="ellipse">
            <a:avLst/>
          </a:prstGeom>
          <a:solidFill>
            <a:srgbClr val="0F141B"/>
          </a:solidFill>
          <a:ln w="1651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652760" y="-1051560"/>
            <a:ext cx="2103120" cy="2103120"/>
          </a:xfrm>
          <a:prstGeom prst="ellipse">
            <a:avLst/>
          </a:prstGeom>
          <a:solidFill>
            <a:srgbClr val="10171F"/>
          </a:solidFill>
          <a:ln w="1651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02732"/>
          </a:solidFill>
          <a:ln w="1651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5C518"/>
          </a:solidFill>
          <a:ln w="1651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31520" y="502920"/>
            <a:ext cx="1078992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F4F6F9"/>
                </a:solidFill>
                <a:latin typeface="Aptos Display"/>
              </a:rPr>
              <a:t>8.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19088"/>
            <a:ext cx="7315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9EA7B4"/>
                </a:solidFill>
                <a:latin typeface="Aptos"/>
              </a:rPr>
              <a:t>Machine Learning Lab – Final Exam Project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5074920" cy="960120"/>
          </a:xfrm>
          <a:prstGeom prst="rect">
            <a:avLst/>
          </a:prstGeom>
          <a:solidFill>
            <a:srgbClr val="141921"/>
          </a:solidFill>
          <a:ln w="1651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ctr"/>
          <a:lstStyle/>
          <a:p>
            <a:pPr algn="l"/>
            <a:r>
              <a:rPr sz="1200" b="1">
                <a:solidFill>
                  <a:srgbClr val="F5C518"/>
                </a:solidFill>
                <a:latin typeface="Aptos"/>
              </a:rPr>
              <a:t>INPUT
"This movie was absolutely fantastic. I loved every minute of it."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5074920" cy="960120"/>
          </a:xfrm>
          <a:prstGeom prst="rect">
            <a:avLst/>
          </a:prstGeom>
          <a:solidFill>
            <a:srgbClr val="141921"/>
          </a:solidFill>
          <a:ln w="16510">
            <a:solidFill>
              <a:srgbClr val="5D9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ctr"/>
          <a:lstStyle/>
          <a:p>
            <a:pPr algn="l"/>
            <a:r>
              <a:rPr sz="1200" b="1">
                <a:solidFill>
                  <a:srgbClr val="5D99FF"/>
                </a:solidFill>
                <a:latin typeface="Aptos"/>
              </a:rPr>
              <a:t>PREPROCESSING
HTML/URLs removed → lowercase → contractions normalized → cleaned text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703320"/>
            <a:ext cx="5074920" cy="960120"/>
          </a:xfrm>
          <a:prstGeom prst="rect">
            <a:avLst/>
          </a:prstGeom>
          <a:solidFill>
            <a:srgbClr val="141921"/>
          </a:solidFill>
          <a:ln w="16510">
            <a:solidFill>
              <a:srgbClr val="A5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ctr"/>
          <a:lstStyle/>
          <a:p>
            <a:pPr algn="l"/>
            <a:r>
              <a:rPr sz="1200" b="1">
                <a:solidFill>
                  <a:srgbClr val="A577FF"/>
                </a:solidFill>
                <a:latin typeface="Aptos"/>
              </a:rPr>
              <a:t>MODEL
TF-IDF features → tuned Logistic Regression → probability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1234440"/>
            <a:ext cx="5074920" cy="960120"/>
          </a:xfrm>
          <a:prstGeom prst="rect">
            <a:avLst/>
          </a:prstGeom>
          <a:solidFill>
            <a:srgbClr val="141921"/>
          </a:solidFill>
          <a:ln w="16510">
            <a:solidFill>
              <a:srgbClr val="3AD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ctr"/>
          <a:lstStyle/>
          <a:p>
            <a:pPr algn="ctr"/>
            <a:r>
              <a:rPr sz="1200" b="1">
                <a:solidFill>
                  <a:srgbClr val="3AD3A6"/>
                </a:solidFill>
                <a:latin typeface="Aptos"/>
              </a:rPr>
              <a:t>OUTPUT
Positive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2468880"/>
            <a:ext cx="5074920" cy="960120"/>
          </a:xfrm>
          <a:prstGeom prst="rect">
            <a:avLst/>
          </a:prstGeom>
          <a:solidFill>
            <a:srgbClr val="141921"/>
          </a:solidFill>
          <a:ln w="1651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ctr"/>
          <a:lstStyle/>
          <a:p>
            <a:pPr algn="ctr"/>
            <a:r>
              <a:rPr sz="1200" b="1">
                <a:solidFill>
                  <a:srgbClr val="3AD3A6"/>
                </a:solidFill>
                <a:latin typeface="Aptos"/>
              </a:rPr>
              <a:t>Positive probability
0.8946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3703320"/>
            <a:ext cx="5074920" cy="960120"/>
          </a:xfrm>
          <a:prstGeom prst="rect">
            <a:avLst/>
          </a:prstGeom>
          <a:solidFill>
            <a:srgbClr val="141921"/>
          </a:solidFill>
          <a:ln w="1651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ctr"/>
          <a:lstStyle/>
          <a:p>
            <a:pPr algn="ctr"/>
            <a:r>
              <a:rPr sz="1200" b="1">
                <a:solidFill>
                  <a:srgbClr val="F5C518"/>
                </a:solidFill>
                <a:latin typeface="Aptos"/>
              </a:rPr>
              <a:t>Decision threshold
0.55 → 0.8946 ≥ 0.55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0" y="5074920"/>
            <a:ext cx="8595360" cy="640080"/>
          </a:xfrm>
          <a:prstGeom prst="rect">
            <a:avLst/>
          </a:prstGeom>
          <a:solidFill>
            <a:srgbClr val="141921"/>
          </a:solidFill>
          <a:ln w="1651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ctr"/>
          <a:lstStyle/>
          <a:p>
            <a:pPr algn="ctr"/>
            <a:r>
              <a:rPr sz="1200" b="1">
                <a:solidFill>
                  <a:srgbClr val="F5C518"/>
                </a:solidFill>
                <a:latin typeface="Aptos"/>
              </a:rPr>
              <a:t>Other executed tests: a clearly negative review was predicted Negative; a mixed review was also predicted Negative.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731520" y="1170432"/>
            <a:ext cx="1051560" cy="41148"/>
          </a:xfrm>
          <a:prstGeom prst="rect">
            <a:avLst/>
          </a:prstGeom>
          <a:solidFill>
            <a:srgbClr val="F5C518"/>
          </a:solidFill>
          <a:ln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-1051560" y="5440680"/>
            <a:ext cx="1920240" cy="1920240"/>
          </a:xfrm>
          <a:prstGeom prst="ellipse">
            <a:avLst/>
          </a:prstGeom>
          <a:solidFill>
            <a:srgbClr val="0F141B"/>
          </a:solidFill>
          <a:ln>
            <a:solidFill>
              <a:srgbClr val="0F14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652760" y="-1051560"/>
            <a:ext cx="2103120" cy="2103120"/>
          </a:xfrm>
          <a:prstGeom prst="ellipse">
            <a:avLst/>
          </a:prstGeom>
          <a:solidFill>
            <a:srgbClr val="10171F"/>
          </a:solidFill>
          <a:ln>
            <a:solidFill>
              <a:srgbClr val="1017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02732"/>
          </a:solidFill>
          <a:ln>
            <a:solidFill>
              <a:srgbClr val="202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5C518"/>
          </a:solidFill>
          <a:ln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31520" y="502920"/>
            <a:ext cx="1078992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F4F6F9"/>
                </a:solidFill>
                <a:latin typeface="Aptos Display"/>
              </a:rPr>
              <a:t>9. Challenges &amp; Improvements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19088"/>
            <a:ext cx="7315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9EA7B4"/>
                </a:solidFill>
                <a:latin typeface="Aptos"/>
              </a:rPr>
              <a:t>Machine Learning Lab – Final Exam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5166360" cy="43891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F4F6F9"/>
                </a:solidFill>
                <a:latin typeface="Aptos"/>
              </a:rPr>
              <a:t>• Preventing leakage: TF-IDF is inside the Pipeline so folds do not see validation-fold vocabulary.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F4F6F9"/>
                </a:solidFill>
                <a:latin typeface="Aptos"/>
              </a:rPr>
              <a:t>• Threshold selection: validation data is used for threshold tuning; the test set is locked until final evaluation.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F4F6F9"/>
                </a:solidFill>
                <a:latin typeface="Aptos"/>
              </a:rPr>
              <a:t>• Negation handling: stopword removal was avoided because words such as “not”, “no” and “never” can change sentiment.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F4F6F9"/>
                </a:solidFill>
                <a:latin typeface="Aptos"/>
              </a:rPr>
              <a:t>• Error patterns: false positives and false negatives occur with sarcasm, ambiguity, mixed sentiment and aspect-specific language.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0" y="1234440"/>
            <a:ext cx="5074920" cy="43891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F4F6F9"/>
                </a:solidFill>
                <a:latin typeface="Aptos"/>
              </a:rPr>
              <a:t>• Improve with richer text representations or transformer-based models.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F4F6F9"/>
                </a:solidFill>
                <a:latin typeface="Aptos"/>
              </a:rPr>
              <a:t>• Add independent aspect labels before attempting aspect-level sentiment modelling.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F4F6F9"/>
                </a:solidFill>
                <a:latin typeface="Aptos"/>
              </a:rPr>
              <a:t>• Calibrate probabilities and validate threshold choices against application-specific costs.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ptos"/>
              </a:defRPr>
            </a:pPr>
            <a:r>
              <a:rPr>
                <a:solidFill>
                  <a:srgbClr val="F4F6F9"/>
                </a:solidFill>
                <a:latin typeface="Aptos"/>
              </a:rPr>
              <a:t>• Expand error analysis and monitor performance on new/unseen review distributions.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7909560" y="1234440"/>
            <a:ext cx="50292" cy="4343400"/>
          </a:xfrm>
          <a:prstGeom prst="rect">
            <a:avLst/>
          </a:prstGeom>
          <a:solidFill>
            <a:srgbClr val="A577FF"/>
          </a:solidFill>
          <a:ln>
            <a:solidFill>
              <a:srgbClr val="A5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30268" y="1234440"/>
            <a:ext cx="50292" cy="4343400"/>
          </a:xfrm>
          <a:prstGeom prst="rect">
            <a:avLst/>
          </a:prstGeom>
          <a:solidFill>
            <a:srgbClr val="A577FF"/>
          </a:solidFill>
          <a:ln>
            <a:solidFill>
              <a:srgbClr val="A5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" y="1234440"/>
            <a:ext cx="50292" cy="4343400"/>
          </a:xfrm>
          <a:prstGeom prst="rect">
            <a:avLst/>
          </a:prstGeom>
          <a:solidFill>
            <a:srgbClr val="5D99FF"/>
          </a:solidFill>
          <a:ln>
            <a:solidFill>
              <a:srgbClr val="5D9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31520" y="1170432"/>
            <a:ext cx="1051560" cy="41148"/>
          </a:xfrm>
          <a:prstGeom prst="rect">
            <a:avLst/>
          </a:prstGeom>
          <a:solidFill>
            <a:srgbClr val="F5C518"/>
          </a:solidFill>
          <a:ln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-1051560" y="5440680"/>
            <a:ext cx="1920240" cy="1920240"/>
          </a:xfrm>
          <a:prstGeom prst="ellipse">
            <a:avLst/>
          </a:prstGeom>
          <a:solidFill>
            <a:srgbClr val="0F141B"/>
          </a:solidFill>
          <a:ln>
            <a:solidFill>
              <a:srgbClr val="0F14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652760" y="-1051560"/>
            <a:ext cx="2103120" cy="2103120"/>
          </a:xfrm>
          <a:prstGeom prst="ellipse">
            <a:avLst/>
          </a:prstGeom>
          <a:solidFill>
            <a:srgbClr val="10171F"/>
          </a:solidFill>
          <a:ln>
            <a:solidFill>
              <a:srgbClr val="1017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02732"/>
          </a:solidFill>
          <a:ln>
            <a:solidFill>
              <a:srgbClr val="202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5C518"/>
          </a:solidFill>
          <a:ln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31520" y="502920"/>
            <a:ext cx="1078992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F4F6F9"/>
                </a:solidFill>
                <a:latin typeface="Aptos Display"/>
              </a:rPr>
              <a:t>10. Team Contribution, Learning &amp;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19088"/>
            <a:ext cx="7315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9EA7B4"/>
                </a:solidFill>
                <a:latin typeface="Aptos"/>
              </a:rPr>
              <a:t>Machine Learning Lab – Final Exam Project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224117" y="1234440"/>
            <a:ext cx="4007223" cy="4343400"/>
          </a:xfrm>
          <a:prstGeom prst="rect">
            <a:avLst/>
          </a:prstGeom>
          <a:solidFill>
            <a:srgbClr val="141921"/>
          </a:solidFill>
          <a:ln w="13970">
            <a:solidFill>
              <a:srgbClr val="202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ctr"/>
          <a:lstStyle/>
          <a:p>
            <a:r>
              <a:rPr sz="1200" b="1" dirty="0">
                <a:solidFill>
                  <a:srgbClr val="5D99FF"/>
                </a:solidFill>
                <a:latin typeface="Aptos"/>
              </a:rPr>
              <a:t>
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0268" y="1234440"/>
            <a:ext cx="3337560" cy="4343400"/>
          </a:xfrm>
          <a:prstGeom prst="rect">
            <a:avLst/>
          </a:prstGeom>
          <a:solidFill>
            <a:srgbClr val="141921"/>
          </a:solidFill>
          <a:ln w="13970">
            <a:solidFill>
              <a:srgbClr val="202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ctr"/>
          <a:lstStyle/>
          <a:p>
            <a:pPr algn="l"/>
            <a:r>
              <a:rPr sz="1200" b="1">
                <a:solidFill>
                  <a:srgbClr val="A577FF"/>
                </a:solidFill>
                <a:latin typeface="Aptos"/>
              </a:rPr>
              <a:t>LEARNING
• Leakage-safe ML workflow
• Text preprocessing and TF-IDF
• Model comparison and tuning
• Threshold selection on validation data
• Error analysis and dashboarding
• Production artifact handoff</a:t>
            </a:r>
          </a:p>
        </p:txBody>
      </p:sp>
      <p:sp>
        <p:nvSpPr>
          <p:cNvPr id="7" name="Rectangle 6"/>
          <p:cNvSpPr/>
          <p:nvPr/>
        </p:nvSpPr>
        <p:spPr>
          <a:xfrm>
            <a:off x="7909560" y="1234440"/>
            <a:ext cx="3246120" cy="4343400"/>
          </a:xfrm>
          <a:prstGeom prst="rect">
            <a:avLst/>
          </a:prstGeom>
          <a:solidFill>
            <a:srgbClr val="141921"/>
          </a:solidFill>
          <a:ln w="13970">
            <a:solidFill>
              <a:srgbClr val="2027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ctr"/>
          <a:lstStyle/>
          <a:p>
            <a:r>
              <a:rPr sz="1200" b="1" dirty="0">
                <a:solidFill>
                  <a:srgbClr val="A577FF"/>
                </a:solidFill>
                <a:latin typeface="Aptos"/>
              </a:rPr>
              <a:t>CONCLUSION
The final pipeline achieves 91.09% test accuracy and 91.09% macro F1 on the executed notebook evaluation.
The model is application-ready for binary sentiment prediction, with saved model, threshold and metrics artifacts.
Future scope: independent aspect labels and aspect-level sentiment analysis.
GitHub: [</a:t>
            </a:r>
            <a:r>
              <a:rPr lang="en-IN" sz="1200" b="1" dirty="0">
                <a:solidFill>
                  <a:srgbClr val="A577FF"/>
                </a:solidFill>
                <a:latin typeface="Aptos"/>
              </a:rPr>
              <a:t>https://github.com/nithyanchris-source/ML-Final-Lab-Group-07</a:t>
            </a:r>
            <a:r>
              <a:rPr sz="1200" b="1" dirty="0">
                <a:solidFill>
                  <a:srgbClr val="A577FF"/>
                </a:solidFill>
                <a:latin typeface="Aptos"/>
              </a:rPr>
              <a:t>]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AE47C52-74E4-84D0-C019-D8DCE98101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117" y="1631576"/>
            <a:ext cx="4007223" cy="33061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1029</Words>
  <Application>Microsoft Office PowerPoint</Application>
  <PresentationFormat>Widescreen</PresentationFormat>
  <Paragraphs>76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Diganth Gowda MV</dc:creator>
  <cp:keywords/>
  <dc:description>generated using python-pptx</dc:description>
  <cp:lastModifiedBy>Diganth Gowda MV</cp:lastModifiedBy>
  <cp:revision>2</cp:revision>
  <dcterms:created xsi:type="dcterms:W3CDTF">2013-01-27T09:14:16Z</dcterms:created>
  <dcterms:modified xsi:type="dcterms:W3CDTF">2026-09-30T16:36:01Z</dcterms:modified>
  <cp:category/>
</cp:coreProperties>
</file>