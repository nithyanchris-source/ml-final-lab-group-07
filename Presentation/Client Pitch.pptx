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2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47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F2937"/>
                </a:solidFill>
                <a:latin typeface="Calibri"/>
              </a:defRPr>
            </a:pPr>
            <a:r>
              <a:rPr sz="1400" b="0" i="0" u="none" strike="noStrike">
                <a:solidFill>
                  <a:srgbClr val="1F2937"/>
                </a:solidFill>
                <a:latin typeface="Calibri"/>
              </a:rPr>
              <a:t>Test-set class balance (49.8% / 50.2%)</a:t>
            </a:r>
          </a:p>
        </c:rich>
      </c:tx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Class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C8553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7868-4148-9C81-1EF263D60F5C}"/>
              </c:ext>
            </c:extLst>
          </c:dPt>
          <c:dPt>
            <c:idx val="1"/>
            <c:bubble3D val="0"/>
            <c:spPr>
              <a:solidFill>
                <a:srgbClr val="1B7F8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7868-4148-9C81-1EF263D60F5C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4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7868-4148-9C81-1EF263D60F5C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4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7868-4148-9C81-1EF263D60F5C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Negative</c:v>
                </c:pt>
                <c:pt idx="1">
                  <c:v>Positive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2470</c:v>
                </c:pt>
                <c:pt idx="1">
                  <c:v>2488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7868-4148-9C81-1EF263D60F5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8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300"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F2937"/>
                </a:solidFill>
                <a:latin typeface="Calibri"/>
              </a:defRPr>
            </a:pPr>
            <a:r>
              <a:rPr sz="1400" b="0" i="0" u="none" strike="noStrike">
                <a:solidFill>
                  <a:srgbClr val="1F2937"/>
                </a:solidFill>
                <a:latin typeface="Calibri"/>
              </a:rPr>
              <a:t>Cross-validation accuracy (%)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CV accuracy (%)</c:v>
                </c:pt>
              </c:strCache>
            </c:strRef>
          </c:tx>
          <c:spPr>
            <a:solidFill>
              <a:srgbClr val="14213D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6702-4380-9E52-E6105FF75964}"/>
              </c:ext>
            </c:extLst>
          </c:dPt>
          <c:dPt>
            <c:idx val="1"/>
            <c:invertIfNegative val="0"/>
            <c:bubble3D val="0"/>
            <c:spPr>
              <a:solidFill>
                <a:srgbClr val="1B7F8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6702-4380-9E52-E6105FF75964}"/>
              </c:ext>
            </c:extLst>
          </c:dPt>
          <c:dPt>
            <c:idx val="2"/>
            <c:invertIfNegative val="0"/>
            <c:bubble3D val="0"/>
            <c:spPr>
              <a:solidFill>
                <a:srgbClr val="F5B7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6702-4380-9E52-E6105FF75964}"/>
              </c:ext>
            </c:extLst>
          </c:dPt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1" i="0" u="none" strike="noStrike">
                    <a:solidFill>
                      <a:srgbClr val="1F2937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Logistic Regression</c:v>
                </c:pt>
                <c:pt idx="1">
                  <c:v>Linear SVM</c:v>
                </c:pt>
                <c:pt idx="2">
                  <c:v>Multinomial NB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90.25</c:v>
                </c:pt>
                <c:pt idx="1">
                  <c:v>89.88</c:v>
                </c:pt>
                <c:pt idx="2">
                  <c:v>87.55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6702-4380-9E52-E6105FF7596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F293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95"/>
          <c:min val="80"/>
        </c:scaling>
        <c:delete val="0"/>
        <c:axPos val="l"/>
        <c:majorGridlines>
          <c:spPr>
            <a:ln w="6350" cap="flat">
              <a:solidFill>
                <a:srgbClr val="D9DEE7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47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50434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1371600"/>
            <a:ext cx="1371600" cy="457200"/>
          </a:xfrm>
          <a:prstGeom prst="roundRect">
            <a:avLst>
              <a:gd name="adj" fmla="val 16000"/>
            </a:avLst>
          </a:prstGeom>
          <a:solidFill>
            <a:srgbClr val="F5B700"/>
          </a:solidFill>
          <a:ln w="12700">
            <a:solidFill>
              <a:srgbClr val="F5B70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22960" y="13716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· TEXT CLASSIFICATION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057400"/>
            <a:ext cx="10241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IMDb Sentiment Analysis Using Machine Learning and Power BI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931920"/>
            <a:ext cx="10241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2000" b="1" dirty="0">
                <a:solidFill>
                  <a:srgbClr val="F5B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Lab – Final Examination</a:t>
            </a:r>
            <a:endParaRPr lang="en-US" sz="20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BCADA 5P 126  |  BCA (Data Analytics), St. Joseph’s University, Bengaluru</a:t>
            </a:r>
            <a:endParaRPr lang="en-US" sz="20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Topic: Binary sentiment classification of movie reviews</a:t>
            </a:r>
            <a:endParaRPr lang="en-US" sz="20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Team: Jerome (241BCADA67) · Dharshan S (241BCADA39) · Prathik HS (241BCADA47) · Diganth Gowda MV (241BCADA51) · Rakshith L (241BCADA63) · Chandan Gowda DD (241BCADA48)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Problem Statement &amp; Objective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Lab – Final Exam Project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58521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decide whether a movie review expresses Positive or Negative sentiment.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matters: turns unstructured review text into structured data that can be analysed, compared and visualised.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objective: supervised binary text classification with a probability / confidence score.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Deliverable: model comparison, final evaluation and a Power BI reporting layer.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858000" y="1463040"/>
            <a:ext cx="4782312" cy="4480560"/>
          </a:xfrm>
          <a:prstGeom prst="roundRect">
            <a:avLst>
              <a:gd name="adj" fmla="val 2449"/>
            </a:avLst>
          </a:prstGeom>
          <a:solidFill>
            <a:srgbClr val="F3F5F9"/>
          </a:solidFill>
          <a:ln w="9525">
            <a:solidFill>
              <a:srgbClr val="D9DEE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132320" y="164592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→ Output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132320" y="2194560"/>
            <a:ext cx="4233672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D9DEE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0" y="22860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7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315200" y="256032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text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132320" y="3429000"/>
            <a:ext cx="4233672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D9DEE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15200" y="35204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7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7315200" y="379476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/ Negative + probability &amp; confidence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132320" y="4663440"/>
            <a:ext cx="4233672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D9DEE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315200" y="47548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7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7315200" y="502920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Actual_Sentiment: 0 = Negative, 1 = Positive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Dataset &amp; Data Understanding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Lab – Final Exam Project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828800" cy="1371600"/>
          </a:xfrm>
          <a:prstGeom prst="roundRect">
            <a:avLst>
              <a:gd name="adj" fmla="val 8000"/>
            </a:avLst>
          </a:prstGeom>
          <a:solidFill>
            <a:srgbClr val="F3F5F9"/>
          </a:solidFill>
          <a:ln w="9525">
            <a:solidFill>
              <a:srgbClr val="D9DEE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572768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4,958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2860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test-set reviews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560320" y="1463040"/>
            <a:ext cx="1828800" cy="1371600"/>
          </a:xfrm>
          <a:prstGeom prst="roundRect">
            <a:avLst>
              <a:gd name="adj" fmla="val 8000"/>
            </a:avLst>
          </a:prstGeom>
          <a:solidFill>
            <a:srgbClr val="F3F5F9"/>
          </a:solidFill>
          <a:ln w="9525">
            <a:solidFill>
              <a:srgbClr val="D9DEE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560320" y="1572768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2,470</a:t>
            </a:r>
            <a:endParaRPr lang="en-US" sz="3600" dirty="0"/>
          </a:p>
        </p:txBody>
      </p:sp>
      <p:sp>
        <p:nvSpPr>
          <p:cNvPr id="9" name="Text 7"/>
          <p:cNvSpPr txBox="1"/>
          <p:nvPr/>
        </p:nvSpPr>
        <p:spPr>
          <a:xfrm>
            <a:off x="2560320" y="22860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Negative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0" y="1463040"/>
            <a:ext cx="1828800" cy="1371600"/>
          </a:xfrm>
          <a:prstGeom prst="roundRect">
            <a:avLst>
              <a:gd name="adj" fmla="val 8000"/>
            </a:avLst>
          </a:prstGeom>
          <a:solidFill>
            <a:srgbClr val="F3F5F9"/>
          </a:solidFill>
          <a:ln w="9525">
            <a:solidFill>
              <a:srgbClr val="D9DEE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0" y="1572768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2,488</a:t>
            </a:r>
            <a:endParaRPr lang="en-US" sz="36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0" y="22860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Positive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3108960"/>
            <a:ext cx="58521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IMDb Movie Review Sentiment Dataset (source URL not specified in the report).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feature: Review (text). Target: Actual_Sentiment (binary 0/1).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Derived fields: Predicted_Label, Positive_Probability, Confidence, Confidence_Band, Error_Type.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Limitations: full-dataset size and feature inventory not stated; text is sensitive to sarcasm, context and ambiguity.</a:t>
            </a:r>
            <a:endParaRPr lang="en-US" sz="1500" dirty="0"/>
          </a:p>
        </p:txBody>
      </p:sp>
      <p:graphicFrame>
        <p:nvGraphicFramePr>
          <p:cNvPr id="14" name="Chart 0"/>
          <p:cNvGraphicFramePr/>
          <p:nvPr/>
        </p:nvGraphicFramePr>
        <p:xfrm>
          <a:off x="6949440" y="1371600"/>
          <a:ext cx="4663440" cy="4754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Data Preparation &amp; EDA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Lab – Final Exam Project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120640" cy="4480560"/>
          </a:xfrm>
          <a:prstGeom prst="roundRect">
            <a:avLst>
              <a:gd name="adj" fmla="val 2449"/>
            </a:avLst>
          </a:prstGeom>
          <a:solidFill>
            <a:srgbClr val="F3F5F9"/>
          </a:solidFill>
          <a:ln w="9525">
            <a:solidFill>
              <a:srgbClr val="D9DEE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6459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Preparation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148840"/>
            <a:ext cx="45720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text converted to strings; sentiment labels to integers (0/1).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→ numeric representation for the classifiers (feature extraction step of the ML pipeline).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/ outlier / missing-value handling is not documented, so it is not claimed.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tokenisation and vectoriser settings are not stated in the report.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035040" y="1463040"/>
            <a:ext cx="5605272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D9DEE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263640" y="1828800"/>
            <a:ext cx="640080" cy="640080"/>
          </a:xfrm>
          <a:prstGeom prst="ellipse">
            <a:avLst/>
          </a:prstGeom>
          <a:solidFill>
            <a:srgbClr val="F5B700"/>
          </a:solidFill>
          <a:ln w="12700">
            <a:solidFill>
              <a:srgbClr val="F5B70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263640" y="1828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7086600" y="1600200"/>
            <a:ext cx="4389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 test set</a:t>
            </a:r>
            <a:endParaRPr lang="en-US" sz="17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2,470 Negative vs 2,488 Positive, so severe class imbalance is not evident.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6035040" y="2999232"/>
            <a:ext cx="5605272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D9DEE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63640" y="3364992"/>
            <a:ext cx="640080" cy="640080"/>
          </a:xfrm>
          <a:prstGeom prst="ellipse">
            <a:avLst/>
          </a:prstGeom>
          <a:solidFill>
            <a:srgbClr val="F5B700"/>
          </a:solidFill>
          <a:ln w="12700">
            <a:solidFill>
              <a:srgbClr val="F5B70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263640" y="336499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7086600" y="3136392"/>
            <a:ext cx="4389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leads</a:t>
            </a:r>
            <a:endParaRPr lang="en-US" sz="17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cross-validation accuracy and macro F1 (90.25%) of the three models.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6035040" y="4535424"/>
            <a:ext cx="5605272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D9DEE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63640" y="4901184"/>
            <a:ext cx="640080" cy="640080"/>
          </a:xfrm>
          <a:prstGeom prst="ellipse">
            <a:avLst/>
          </a:prstGeom>
          <a:solidFill>
            <a:srgbClr val="F5B700"/>
          </a:solidFill>
          <a:ln w="12700">
            <a:solidFill>
              <a:srgbClr val="F5B70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263640" y="4901184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7086600" y="4672584"/>
            <a:ext cx="4389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 errors</a:t>
            </a:r>
            <a:endParaRPr lang="en-US" sz="17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4,516 correct vs 442 incorrect; FP (211) and FN (231) are similar in size.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Machine Learning Approach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Lab – Final Exam Project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538728" cy="2651760"/>
          </a:xfrm>
          <a:prstGeom prst="roundRect">
            <a:avLst>
              <a:gd name="adj" fmla="val 4138"/>
            </a:avLst>
          </a:prstGeom>
          <a:solidFill>
            <a:srgbClr val="14213D"/>
          </a:solidFill>
          <a:ln w="9525">
            <a:solidFill>
              <a:srgbClr val="1421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6459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14884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5B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0.9025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9260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accuracy = macro F1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29184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model · linear, probabilistic, gives positive-class probability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25112" y="1463040"/>
            <a:ext cx="3538728" cy="2651760"/>
          </a:xfrm>
          <a:prstGeom prst="roundRect">
            <a:avLst>
              <a:gd name="adj" fmla="val 4138"/>
            </a:avLst>
          </a:prstGeom>
          <a:solidFill>
            <a:srgbClr val="F3F5F9"/>
          </a:solidFill>
          <a:ln w="9525">
            <a:solidFill>
              <a:srgbClr val="D9DEE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53712" y="16459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SVM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4553712" y="214884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1B7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0.8988</a:t>
            </a:r>
            <a:endParaRPr lang="en-US" sz="4400" dirty="0"/>
          </a:p>
        </p:txBody>
      </p:sp>
      <p:sp>
        <p:nvSpPr>
          <p:cNvPr id="12" name="Text 10"/>
          <p:cNvSpPr txBox="1"/>
          <p:nvPr/>
        </p:nvSpPr>
        <p:spPr>
          <a:xfrm>
            <a:off x="4553712" y="29260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accuracy = macro F1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4553712" y="329184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· strong linear text classifier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101584" y="1463040"/>
            <a:ext cx="3538728" cy="2651760"/>
          </a:xfrm>
          <a:prstGeom prst="roundRect">
            <a:avLst>
              <a:gd name="adj" fmla="val 4138"/>
            </a:avLst>
          </a:prstGeom>
          <a:solidFill>
            <a:srgbClr val="F3F5F9"/>
          </a:solidFill>
          <a:ln w="9525">
            <a:solidFill>
              <a:srgbClr val="D9DEE7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30184" y="16459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Multinomial Naive Bayes</a:t>
            </a:r>
            <a:endParaRPr lang="en-US" sz="1900" dirty="0"/>
          </a:p>
        </p:txBody>
      </p:sp>
      <p:sp>
        <p:nvSpPr>
          <p:cNvPr id="16" name="Text 14"/>
          <p:cNvSpPr txBox="1"/>
          <p:nvPr/>
        </p:nvSpPr>
        <p:spPr>
          <a:xfrm>
            <a:off x="8330184" y="214884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1B7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0.8755</a:t>
            </a:r>
            <a:endParaRPr lang="en-US" sz="4400" dirty="0"/>
          </a:p>
        </p:txBody>
      </p:sp>
      <p:sp>
        <p:nvSpPr>
          <p:cNvPr id="17" name="Text 15"/>
          <p:cNvSpPr txBox="1"/>
          <p:nvPr/>
        </p:nvSpPr>
        <p:spPr>
          <a:xfrm>
            <a:off x="8330184" y="29260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accuracy = macro F1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8330184" y="329184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· probabilistic baseline for text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4434840"/>
            <a:ext cx="1109167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Validation: cross-validation for model comparison, then a separate held-out test set of 4,958 reviews.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Tuning: decision-threshold selection (final threshold 0.55); no grid / random search documented.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model: Logistic Regression, chosen for the best CV accuracy and macro F1.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Model Evaluation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Lab – Final Exam Project</a:t>
            </a:r>
            <a:endParaRPr lang="en-US" sz="10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371600"/>
          <a:ext cx="5486400" cy="3383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6492240" y="14173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 (final model, n = 4,958)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7680960" y="18745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Pred. Negative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9692640" y="18745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Pred. Positive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6492240" y="2194560"/>
            <a:ext cx="1143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Neg.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6492240" y="3246120"/>
            <a:ext cx="1143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Pos.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7680960" y="2194560"/>
            <a:ext cx="1920240" cy="960120"/>
          </a:xfrm>
          <a:prstGeom prst="roundRect">
            <a:avLst>
              <a:gd name="adj" fmla="val 7619"/>
            </a:avLst>
          </a:prstGeom>
          <a:solidFill>
            <a:srgbClr val="1B7F8C"/>
          </a:solidFill>
          <a:ln w="12700">
            <a:solidFill>
              <a:srgbClr val="1B7F8C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680960" y="2194560"/>
            <a:ext cx="1920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2,259</a:t>
            </a:r>
            <a:endParaRPr lang="en-US" sz="26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TN</a:t>
            </a:r>
            <a:endParaRPr lang="en-US" sz="2600" dirty="0"/>
          </a:p>
        </p:txBody>
      </p:sp>
      <p:sp>
        <p:nvSpPr>
          <p:cNvPr id="12" name="Shape 9"/>
          <p:cNvSpPr/>
          <p:nvPr/>
        </p:nvSpPr>
        <p:spPr>
          <a:xfrm>
            <a:off x="9692640" y="2194560"/>
            <a:ext cx="1920240" cy="960120"/>
          </a:xfrm>
          <a:prstGeom prst="roundRect">
            <a:avLst>
              <a:gd name="adj" fmla="val 7619"/>
            </a:avLst>
          </a:prstGeom>
          <a:solidFill>
            <a:srgbClr val="C8553D"/>
          </a:solidFill>
          <a:ln w="12700">
            <a:solidFill>
              <a:srgbClr val="C8553D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9692640" y="2194560"/>
            <a:ext cx="1920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211</a:t>
            </a:r>
            <a:endParaRPr lang="en-US" sz="26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</a:t>
            </a:r>
            <a:endParaRPr lang="en-US" sz="2600" dirty="0"/>
          </a:p>
        </p:txBody>
      </p:sp>
      <p:sp>
        <p:nvSpPr>
          <p:cNvPr id="14" name="Shape 11"/>
          <p:cNvSpPr/>
          <p:nvPr/>
        </p:nvSpPr>
        <p:spPr>
          <a:xfrm>
            <a:off x="7680960" y="3246120"/>
            <a:ext cx="1920240" cy="960120"/>
          </a:xfrm>
          <a:prstGeom prst="roundRect">
            <a:avLst>
              <a:gd name="adj" fmla="val 7619"/>
            </a:avLst>
          </a:prstGeom>
          <a:solidFill>
            <a:srgbClr val="C8553D"/>
          </a:solidFill>
          <a:ln w="12700">
            <a:solidFill>
              <a:srgbClr val="C8553D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680960" y="3246120"/>
            <a:ext cx="1920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231</a:t>
            </a:r>
            <a:endParaRPr lang="en-US" sz="26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FN</a:t>
            </a:r>
            <a:endParaRPr lang="en-US" sz="2600" dirty="0"/>
          </a:p>
        </p:txBody>
      </p:sp>
      <p:sp>
        <p:nvSpPr>
          <p:cNvPr id="16" name="Shape 13"/>
          <p:cNvSpPr/>
          <p:nvPr/>
        </p:nvSpPr>
        <p:spPr>
          <a:xfrm>
            <a:off x="9692640" y="3246120"/>
            <a:ext cx="1920240" cy="960120"/>
          </a:xfrm>
          <a:prstGeom prst="roundRect">
            <a:avLst>
              <a:gd name="adj" fmla="val 7619"/>
            </a:avLst>
          </a:prstGeom>
          <a:solidFill>
            <a:srgbClr val="1B7F8C"/>
          </a:solidFill>
          <a:ln w="12700">
            <a:solidFill>
              <a:srgbClr val="1B7F8C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9692640" y="3246120"/>
            <a:ext cx="1920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2,257</a:t>
            </a:r>
            <a:endParaRPr lang="en-US" sz="26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</a:t>
            </a:r>
            <a:endParaRPr lang="en-US" sz="2600" dirty="0"/>
          </a:p>
        </p:txBody>
      </p:sp>
      <p:sp>
        <p:nvSpPr>
          <p:cNvPr id="18" name="Shape 15"/>
          <p:cNvSpPr/>
          <p:nvPr/>
        </p:nvSpPr>
        <p:spPr>
          <a:xfrm>
            <a:off x="548640" y="4937760"/>
            <a:ext cx="2615184" cy="868680"/>
          </a:xfrm>
          <a:prstGeom prst="roundRect">
            <a:avLst>
              <a:gd name="adj" fmla="val 12632"/>
            </a:avLst>
          </a:prstGeom>
          <a:solidFill>
            <a:srgbClr val="F3F5F9"/>
          </a:solidFill>
          <a:ln w="9525">
            <a:solidFill>
              <a:srgbClr val="D9DEE7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548640" y="4983480"/>
            <a:ext cx="2615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91.09%</a:t>
            </a:r>
            <a:endParaRPr lang="en-US" sz="2400" dirty="0"/>
          </a:p>
        </p:txBody>
      </p:sp>
      <p:sp>
        <p:nvSpPr>
          <p:cNvPr id="20" name="Text 17"/>
          <p:cNvSpPr txBox="1"/>
          <p:nvPr/>
        </p:nvSpPr>
        <p:spPr>
          <a:xfrm>
            <a:off x="548640" y="5440680"/>
            <a:ext cx="2615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/ Macro F1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3346704" y="4937760"/>
            <a:ext cx="2615184" cy="868680"/>
          </a:xfrm>
          <a:prstGeom prst="roundRect">
            <a:avLst>
              <a:gd name="adj" fmla="val 12632"/>
            </a:avLst>
          </a:prstGeom>
          <a:solidFill>
            <a:srgbClr val="F3F5F9"/>
          </a:solidFill>
          <a:ln w="9525">
            <a:solidFill>
              <a:srgbClr val="D9DEE7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3346704" y="4983480"/>
            <a:ext cx="2615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96.89%</a:t>
            </a:r>
            <a:endParaRPr lang="en-US" sz="2400" dirty="0"/>
          </a:p>
        </p:txBody>
      </p:sp>
      <p:sp>
        <p:nvSpPr>
          <p:cNvPr id="23" name="Text 20"/>
          <p:cNvSpPr txBox="1"/>
          <p:nvPr/>
        </p:nvSpPr>
        <p:spPr>
          <a:xfrm>
            <a:off x="3346704" y="5440680"/>
            <a:ext cx="2615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6144768" y="4937760"/>
            <a:ext cx="2615184" cy="868680"/>
          </a:xfrm>
          <a:prstGeom prst="roundRect">
            <a:avLst>
              <a:gd name="adj" fmla="val 12632"/>
            </a:avLst>
          </a:prstGeom>
          <a:solidFill>
            <a:srgbClr val="F3F5F9"/>
          </a:solidFill>
          <a:ln w="9525">
            <a:solidFill>
              <a:srgbClr val="D9DEE7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144768" y="4983480"/>
            <a:ext cx="2615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96.74%</a:t>
            </a:r>
            <a:endParaRPr lang="en-US" sz="2400" dirty="0"/>
          </a:p>
        </p:txBody>
      </p:sp>
      <p:sp>
        <p:nvSpPr>
          <p:cNvPr id="26" name="Text 23"/>
          <p:cNvSpPr txBox="1"/>
          <p:nvPr/>
        </p:nvSpPr>
        <p:spPr>
          <a:xfrm>
            <a:off x="6144768" y="5440680"/>
            <a:ext cx="2615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Precision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8942832" y="4937760"/>
            <a:ext cx="2615184" cy="868680"/>
          </a:xfrm>
          <a:prstGeom prst="roundRect">
            <a:avLst>
              <a:gd name="adj" fmla="val 12632"/>
            </a:avLst>
          </a:prstGeom>
          <a:solidFill>
            <a:srgbClr val="F3F5F9"/>
          </a:solidFill>
          <a:ln w="9525">
            <a:solidFill>
              <a:srgbClr val="D9DEE7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942832" y="4983480"/>
            <a:ext cx="2615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0.0703</a:t>
            </a:r>
            <a:endParaRPr lang="en-US" sz="2400" dirty="0"/>
          </a:p>
        </p:txBody>
      </p:sp>
      <p:sp>
        <p:nvSpPr>
          <p:cNvPr id="29" name="Text 26"/>
          <p:cNvSpPr txBox="1"/>
          <p:nvPr/>
        </p:nvSpPr>
        <p:spPr>
          <a:xfrm>
            <a:off x="8942832" y="5440680"/>
            <a:ext cx="2615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Brier score</a:t>
            </a:r>
            <a:endParaRPr lang="en-US" sz="1200" dirty="0"/>
          </a:p>
        </p:txBody>
      </p:sp>
      <p:sp>
        <p:nvSpPr>
          <p:cNvPr id="30" name="Text 27"/>
          <p:cNvSpPr txBox="1"/>
          <p:nvPr/>
        </p:nvSpPr>
        <p:spPr>
          <a:xfrm>
            <a:off x="548640" y="589788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F1 and accuracy suit this near-balanced task; ROC-AUC, AP and Brier score assess ranking and probability quality. Errors occur in both directions (211 FP, 231 FN).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Results &amp; Dashboard / Visualization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Lab – Final Exam Project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2615184" cy="1371600"/>
          </a:xfrm>
          <a:prstGeom prst="roundRect">
            <a:avLst>
              <a:gd name="adj" fmla="val 8000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554480"/>
            <a:ext cx="26151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5B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91.09%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286000"/>
            <a:ext cx="26151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&amp; macro F1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346704" y="1417320"/>
            <a:ext cx="2615184" cy="1371600"/>
          </a:xfrm>
          <a:prstGeom prst="roundRect">
            <a:avLst>
              <a:gd name="adj" fmla="val 8000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346704" y="1554480"/>
            <a:ext cx="26151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5B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96.89%</a:t>
            </a:r>
            <a:endParaRPr lang="en-US" sz="3600" dirty="0"/>
          </a:p>
        </p:txBody>
      </p:sp>
      <p:sp>
        <p:nvSpPr>
          <p:cNvPr id="9" name="Text 7"/>
          <p:cNvSpPr txBox="1"/>
          <p:nvPr/>
        </p:nvSpPr>
        <p:spPr>
          <a:xfrm>
            <a:off x="3346704" y="2286000"/>
            <a:ext cx="26151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144768" y="1417320"/>
            <a:ext cx="2615184" cy="1371600"/>
          </a:xfrm>
          <a:prstGeom prst="roundRect">
            <a:avLst>
              <a:gd name="adj" fmla="val 8000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144768" y="1554480"/>
            <a:ext cx="26151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5B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96.74%</a:t>
            </a:r>
            <a:endParaRPr lang="en-US" sz="3600" dirty="0"/>
          </a:p>
        </p:txBody>
      </p:sp>
      <p:sp>
        <p:nvSpPr>
          <p:cNvPr id="12" name="Text 10"/>
          <p:cNvSpPr txBox="1"/>
          <p:nvPr/>
        </p:nvSpPr>
        <p:spPr>
          <a:xfrm>
            <a:off x="6144768" y="2286000"/>
            <a:ext cx="26151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precision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942832" y="1417320"/>
            <a:ext cx="2615184" cy="1371600"/>
          </a:xfrm>
          <a:prstGeom prst="roundRect">
            <a:avLst>
              <a:gd name="adj" fmla="val 8000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942832" y="1554480"/>
            <a:ext cx="26151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5B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0.55</a:t>
            </a:r>
            <a:endParaRPr lang="en-US" sz="3600" dirty="0"/>
          </a:p>
        </p:txBody>
      </p:sp>
      <p:sp>
        <p:nvSpPr>
          <p:cNvPr id="15" name="Text 13"/>
          <p:cNvSpPr txBox="1"/>
          <p:nvPr/>
        </p:nvSpPr>
        <p:spPr>
          <a:xfrm>
            <a:off x="8942832" y="2286000"/>
            <a:ext cx="26151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threshold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310896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3566160"/>
            <a:ext cx="53949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4,516 of 4,958 reviews predicted correctly (442 errors).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211 false positives vs 231 false negatives: no one-sided bias.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class separation: ROC-AUC 0.9689.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Meaning: reliable enough to structure review sentiment for analysis.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309360" y="3108960"/>
            <a:ext cx="5330952" cy="3063240"/>
          </a:xfrm>
          <a:prstGeom prst="roundRect">
            <a:avLst>
              <a:gd name="adj" fmla="val 3582"/>
            </a:avLst>
          </a:prstGeom>
          <a:solidFill>
            <a:srgbClr val="F3F5F9"/>
          </a:solidFill>
          <a:ln w="9525">
            <a:solidFill>
              <a:srgbClr val="D9DEE7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537960" y="32461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layer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6537960" y="3703320"/>
            <a:ext cx="48463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Exports: review-level predictions, model comparison, final metrics, confusion matrix, threshold and error analysis.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 measures: total reviews, correct / incorrect, accuracy, FP, FN, average confidence.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analytics theme; filter by confidence band and error type.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Live Demo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Lab – Final Exam Project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2011680" cy="1920240"/>
          </a:xfrm>
          <a:prstGeom prst="roundRect">
            <a:avLst>
              <a:gd name="adj" fmla="val 5714"/>
            </a:avLst>
          </a:prstGeom>
          <a:solidFill>
            <a:srgbClr val="F3F5F9"/>
          </a:solidFill>
          <a:ln w="9525">
            <a:solidFill>
              <a:srgbClr val="D9DEE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34440" y="1828800"/>
            <a:ext cx="640080" cy="640080"/>
          </a:xfrm>
          <a:prstGeom prst="ellipse">
            <a:avLst/>
          </a:prstGeom>
          <a:solidFill>
            <a:srgbClr val="F5B700"/>
          </a:solidFill>
          <a:ln w="12700">
            <a:solidFill>
              <a:srgbClr val="F5B70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234440" y="1828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6060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input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297180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 review text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2560320" y="228600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5B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2834640" y="1645920"/>
            <a:ext cx="2011680" cy="1920240"/>
          </a:xfrm>
          <a:prstGeom prst="roundRect">
            <a:avLst>
              <a:gd name="adj" fmla="val 5714"/>
            </a:avLst>
          </a:prstGeom>
          <a:solidFill>
            <a:srgbClr val="F3F5F9"/>
          </a:solidFill>
          <a:ln w="9525">
            <a:solidFill>
              <a:srgbClr val="D9DEE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520440" y="1828800"/>
            <a:ext cx="640080" cy="640080"/>
          </a:xfrm>
          <a:prstGeom prst="ellipse">
            <a:avLst/>
          </a:prstGeom>
          <a:solidFill>
            <a:srgbClr val="F5B700"/>
          </a:solidFill>
          <a:ln w="12700">
            <a:solidFill>
              <a:srgbClr val="F5B70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520440" y="1828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2926080" y="26060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2971800" y="297180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→ feature representation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846320" y="228600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5B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5120640" y="1645920"/>
            <a:ext cx="2011680" cy="1920240"/>
          </a:xfrm>
          <a:prstGeom prst="roundRect">
            <a:avLst>
              <a:gd name="adj" fmla="val 5714"/>
            </a:avLst>
          </a:prstGeom>
          <a:solidFill>
            <a:srgbClr val="14213D"/>
          </a:solidFill>
          <a:ln w="9525">
            <a:solidFill>
              <a:srgbClr val="14213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06440" y="1828800"/>
            <a:ext cx="640080" cy="640080"/>
          </a:xfrm>
          <a:prstGeom prst="ellipse">
            <a:avLst/>
          </a:prstGeom>
          <a:solidFill>
            <a:srgbClr val="F5B700"/>
          </a:solidFill>
          <a:ln w="12700">
            <a:solidFill>
              <a:srgbClr val="F5B70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806440" y="1828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5212080" y="26060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Classifier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5257800" y="297180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7132320" y="228600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5B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600" dirty="0"/>
          </a:p>
        </p:txBody>
      </p:sp>
      <p:sp>
        <p:nvSpPr>
          <p:cNvPr id="22" name="Shape 20"/>
          <p:cNvSpPr/>
          <p:nvPr/>
        </p:nvSpPr>
        <p:spPr>
          <a:xfrm>
            <a:off x="7406640" y="1645920"/>
            <a:ext cx="2011680" cy="1920240"/>
          </a:xfrm>
          <a:prstGeom prst="roundRect">
            <a:avLst>
              <a:gd name="adj" fmla="val 5714"/>
            </a:avLst>
          </a:prstGeom>
          <a:solidFill>
            <a:srgbClr val="F3F5F9"/>
          </a:solidFill>
          <a:ln w="9525">
            <a:solidFill>
              <a:srgbClr val="D9DEE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92440" y="1828800"/>
            <a:ext cx="640080" cy="640080"/>
          </a:xfrm>
          <a:prstGeom prst="ellipse">
            <a:avLst/>
          </a:prstGeom>
          <a:solidFill>
            <a:srgbClr val="F5B700"/>
          </a:solidFill>
          <a:ln w="12700">
            <a:solidFill>
              <a:srgbClr val="F5B70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092440" y="1828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7498080" y="26060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7543800" y="297180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Positive-class probability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9418320" y="228600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5B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600" dirty="0"/>
          </a:p>
        </p:txBody>
      </p:sp>
      <p:sp>
        <p:nvSpPr>
          <p:cNvPr id="28" name="Shape 26"/>
          <p:cNvSpPr/>
          <p:nvPr/>
        </p:nvSpPr>
        <p:spPr>
          <a:xfrm>
            <a:off x="9692640" y="1645920"/>
            <a:ext cx="2011680" cy="1920240"/>
          </a:xfrm>
          <a:prstGeom prst="roundRect">
            <a:avLst>
              <a:gd name="adj" fmla="val 5714"/>
            </a:avLst>
          </a:prstGeom>
          <a:solidFill>
            <a:srgbClr val="F3F5F9"/>
          </a:solidFill>
          <a:ln w="9525">
            <a:solidFill>
              <a:srgbClr val="D9DEE7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378440" y="1828800"/>
            <a:ext cx="640080" cy="640080"/>
          </a:xfrm>
          <a:prstGeom prst="ellipse">
            <a:avLst/>
          </a:prstGeom>
          <a:solidFill>
            <a:srgbClr val="F5B700"/>
          </a:solidFill>
          <a:ln w="12700">
            <a:solidFill>
              <a:srgbClr val="F5B700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10378440" y="1828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31" name="Text 29"/>
          <p:cNvSpPr txBox="1"/>
          <p:nvPr/>
        </p:nvSpPr>
        <p:spPr>
          <a:xfrm>
            <a:off x="9784080" y="26060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9829800" y="297180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0.55 → Positive / Negative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548640" y="3977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show and explain</a:t>
            </a:r>
            <a:endParaRPr lang="en-US" sz="1800" dirty="0"/>
          </a:p>
        </p:txBody>
      </p:sp>
      <p:sp>
        <p:nvSpPr>
          <p:cNvPr id="34" name="Text 32"/>
          <p:cNvSpPr txBox="1"/>
          <p:nvPr/>
        </p:nvSpPr>
        <p:spPr>
          <a:xfrm>
            <a:off x="548640" y="4434840"/>
            <a:ext cx="1109167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a sample review and show the predicted sentiment.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the probability, confidence and the 0.55 decision threshold.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open the Power BI export to show correctness and error type.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screenshots ready as backup.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Challenges &amp; Improvements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Lab – Final Exam Project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349240" cy="4572000"/>
          </a:xfrm>
          <a:prstGeom prst="roundRect">
            <a:avLst>
              <a:gd name="adj" fmla="val 2400"/>
            </a:avLst>
          </a:prstGeom>
          <a:solidFill>
            <a:srgbClr val="F3F5F9"/>
          </a:solidFill>
          <a:ln w="9525">
            <a:solidFill>
              <a:srgbClr val="D9DEE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691640"/>
            <a:ext cx="201168" cy="201168"/>
          </a:xfrm>
          <a:prstGeom prst="roundRect">
            <a:avLst>
              <a:gd name="adj" fmla="val 22727"/>
            </a:avLst>
          </a:prstGeom>
          <a:solidFill>
            <a:srgbClr val="1B7F8C"/>
          </a:solidFill>
          <a:ln w="12700">
            <a:solidFill>
              <a:srgbClr val="1B7F8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97280" y="160020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&amp; limitations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194560"/>
            <a:ext cx="48006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Coordinating model outputs, evaluation and Power BI-ready tables.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Handling varied language: sarcasm, context and ambiguous sentiment.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experiment log of failed approaches, so none are claimed.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Preprocessing, split and tuning settings, dataset URL and dashboard screenshot are undocumented.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291072" y="1463040"/>
            <a:ext cx="5349240" cy="4572000"/>
          </a:xfrm>
          <a:prstGeom prst="roundRect">
            <a:avLst>
              <a:gd name="adj" fmla="val 2400"/>
            </a:avLst>
          </a:prstGeom>
          <a:solidFill>
            <a:srgbClr val="F3F5F9"/>
          </a:solidFill>
          <a:ln w="9525">
            <a:solidFill>
              <a:srgbClr val="D9DEE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19672" y="1691640"/>
            <a:ext cx="201168" cy="201168"/>
          </a:xfrm>
          <a:prstGeom prst="roundRect">
            <a:avLst>
              <a:gd name="adj" fmla="val 22727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39712" y="160020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Improvements with more time / data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6565392" y="2194560"/>
            <a:ext cx="48006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Systematic hyperparameter tuning and richer text representations.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 analysis and finer error categories.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Larger, more diverse evaluation data; drift monitoring.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Drill-through and threshold visuals in Power BI; API layer for deployment.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Team Contribution, Learning &amp; Conclusion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Lab – Final Exam Project</a:t>
            </a:r>
            <a:endParaRPr lang="en-US" sz="1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6706611"/>
              </p:ext>
            </p:extLst>
          </p:nvPr>
        </p:nvGraphicFramePr>
        <p:xfrm>
          <a:off x="548640" y="1371600"/>
          <a:ext cx="6766560" cy="4255008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83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Member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Contribution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Jerome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Engineer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preparation and movement into the workflow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Dharshan 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Analyst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Performed EDA to identify data patterns, anomalies, feature correlations, distributions, and key actionable insights for model development.</a:t>
                      </a:r>
                    </a:p>
                  </a:txBody>
                  <a:tcPr marT="0" marB="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Prathik HS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Scientist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Compared models, evaluated final classifier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Diganth Gowda MV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ML Engineer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ML prediction workflow and export outputs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Rakshith 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Analytical Engineer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Structured results into reporting datasets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Chandan Gowda DD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Power BI Developer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Power BI export, DAX measures, dashboard structure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635240" y="1371600"/>
            <a:ext cx="4005072" cy="3977640"/>
          </a:xfrm>
          <a:prstGeom prst="roundRect">
            <a:avLst>
              <a:gd name="adj" fmla="val 2759"/>
            </a:avLst>
          </a:prstGeom>
          <a:solidFill>
            <a:srgbClr val="F3F5F9"/>
          </a:solidFill>
          <a:ln w="9525">
            <a:solidFill>
              <a:srgbClr val="D9DEE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863840" y="15087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7863840" y="1965960"/>
            <a:ext cx="36118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reached 91.09% test accuracy and macro F1, ROC-AUC 96.89%.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Learned: model comparison, metrics, threshold analysis, DAX KPIs, teamwork.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Value: academic, joining NLP evaluation with BI reporting.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tuning, richer features, deployment.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576072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Repository: </a:t>
            </a: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not supplied in the report; add before submission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1108</Words>
  <Application>Microsoft Office PowerPoint</Application>
  <PresentationFormat>Widescreen</PresentationFormat>
  <Paragraphs>186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Diganth Gowda MV</cp:lastModifiedBy>
  <cp:revision>2</cp:revision>
  <dcterms:created xsi:type="dcterms:W3CDTF">2026-09-29T10:13:05Z</dcterms:created>
  <dcterms:modified xsi:type="dcterms:W3CDTF">2026-09-29T10:29:18Z</dcterms:modified>
</cp:coreProperties>
</file>